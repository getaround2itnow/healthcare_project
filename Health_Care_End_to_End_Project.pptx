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E5F40A-E7CD-4C66-B7CC-926A440C0A51}">
  <a:tblStyle styleId="{89E5F40A-E7CD-4C66-B7CC-926A440C0A5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5237bc2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5237bc2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a1ba1e8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a1ba1e8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5237bc29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5237bc29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a1ba1e8e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a1ba1e8e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5237bc29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5237bc29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a1ba1e8e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a1ba1e8e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5dbaa85e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5dbaa85e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5dbaa85e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5dbaa85e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5dbaa85e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5dbaa85e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5dbaa85e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5dbaa85e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5dbaa85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5dbaa85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b7fd26b5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b7fd26b5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5dbaa85e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5dbaa85e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88c7401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88c7401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b7fd26b5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b7fd26b5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b7fd26b5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b7fd26b5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a1ba1e8e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ea1ba1e8e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0ffc07640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0ffc07640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334d374e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334d374e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7eef28c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7eef28c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6724da15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6724da15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6724da15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6724da15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6724da15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6724da15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6724da15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f6724da157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6724da157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f6724da157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6724da15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6724da15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6724da157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f6724da157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6724da157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6724da157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6724da1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f6724da1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6724da15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f6724da15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6724da15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f6724da15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6724da15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f6724da15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6724da15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6724da15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6724da15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6724da15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6724da157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6724da157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97bc11d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97bc11d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97bc11da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97bc11da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97bc11da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97bc11da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97bc11da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97bc11da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9810fefa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9810fefa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9810fefa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f9810fefa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9810fefa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9810fefa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9810fefa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f9810fefa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9810fefa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9810fefa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f9810fefa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f9810fefa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6724da157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f6724da157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f6724da157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f6724da157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348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Health Care End to End Project</a:t>
            </a:r>
            <a:endParaRPr/>
          </a:p>
        </p:txBody>
      </p:sp>
      <p:sp>
        <p:nvSpPr>
          <p:cNvPr id="55" name="Google Shape;55;p13"/>
          <p:cNvSpPr txBox="1"/>
          <p:nvPr>
            <p:ph idx="1" type="subTitle"/>
          </p:nvPr>
        </p:nvSpPr>
        <p:spPr>
          <a:xfrm>
            <a:off x="137900" y="32084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Created by Marvin Ziegler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601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720"/>
              <a:t>Initial Report on Missing values, duplicates &amp; outliers</a:t>
            </a:r>
            <a:endParaRPr sz="2720"/>
          </a:p>
        </p:txBody>
      </p:sp>
      <p:sp>
        <p:nvSpPr>
          <p:cNvPr id="61" name="Google Shape;61;p14"/>
          <p:cNvSpPr txBox="1"/>
          <p:nvPr/>
        </p:nvSpPr>
        <p:spPr>
          <a:xfrm>
            <a:off x="911275" y="1603750"/>
            <a:ext cx="7431900" cy="392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750">
                <a:solidFill>
                  <a:schemeClr val="dk1"/>
                </a:solidFill>
              </a:rPr>
              <a:t>Definitions:</a:t>
            </a:r>
            <a:endParaRPr sz="1750">
              <a:solidFill>
                <a:schemeClr val="dk1"/>
              </a:solidFill>
            </a:endParaRPr>
          </a:p>
          <a:p>
            <a:pPr indent="0" lvl="0" marL="0" rtl="0" algn="l">
              <a:lnSpc>
                <a:spcPct val="115000"/>
              </a:lnSpc>
              <a:spcBef>
                <a:spcPts val="0"/>
              </a:spcBef>
              <a:spcAft>
                <a:spcPts val="0"/>
              </a:spcAft>
              <a:buNone/>
            </a:pPr>
            <a:r>
              <a:t/>
            </a:r>
            <a:endParaRPr sz="1750">
              <a:solidFill>
                <a:schemeClr val="dk1"/>
              </a:solidFill>
            </a:endParaRPr>
          </a:p>
          <a:p>
            <a:pPr indent="0" lvl="0" marL="0" rtl="0" algn="l">
              <a:lnSpc>
                <a:spcPct val="115000"/>
              </a:lnSpc>
              <a:spcBef>
                <a:spcPts val="0"/>
              </a:spcBef>
              <a:spcAft>
                <a:spcPts val="0"/>
              </a:spcAft>
              <a:buNone/>
            </a:pPr>
            <a:r>
              <a:rPr lang="en" sz="1750">
                <a:solidFill>
                  <a:schemeClr val="dk1"/>
                </a:solidFill>
              </a:rPr>
              <a:t>Missing values - cells that aren’t populated with data</a:t>
            </a:r>
            <a:endParaRPr sz="1750">
              <a:solidFill>
                <a:schemeClr val="dk1"/>
              </a:solidFill>
            </a:endParaRPr>
          </a:p>
          <a:p>
            <a:pPr indent="0" lvl="0" marL="0" rtl="0" algn="l">
              <a:lnSpc>
                <a:spcPct val="115000"/>
              </a:lnSpc>
              <a:spcBef>
                <a:spcPts val="0"/>
              </a:spcBef>
              <a:spcAft>
                <a:spcPts val="0"/>
              </a:spcAft>
              <a:buNone/>
            </a:pPr>
            <a:r>
              <a:t/>
            </a:r>
            <a:endParaRPr sz="1750">
              <a:solidFill>
                <a:schemeClr val="dk1"/>
              </a:solidFill>
            </a:endParaRPr>
          </a:p>
          <a:p>
            <a:pPr indent="0" lvl="0" marL="0" rtl="0" algn="l">
              <a:lnSpc>
                <a:spcPct val="115000"/>
              </a:lnSpc>
              <a:spcBef>
                <a:spcPts val="0"/>
              </a:spcBef>
              <a:spcAft>
                <a:spcPts val="0"/>
              </a:spcAft>
              <a:buNone/>
            </a:pPr>
            <a:r>
              <a:rPr lang="en" sz="1750">
                <a:solidFill>
                  <a:schemeClr val="dk1"/>
                </a:solidFill>
              </a:rPr>
              <a:t>Duplicates - records (rows) that appear twice in a table</a:t>
            </a:r>
            <a:endParaRPr sz="1750">
              <a:solidFill>
                <a:schemeClr val="dk1"/>
              </a:solidFill>
            </a:endParaRPr>
          </a:p>
          <a:p>
            <a:pPr indent="0" lvl="0" marL="0" rtl="0" algn="l">
              <a:lnSpc>
                <a:spcPct val="115000"/>
              </a:lnSpc>
              <a:spcBef>
                <a:spcPts val="0"/>
              </a:spcBef>
              <a:spcAft>
                <a:spcPts val="0"/>
              </a:spcAft>
              <a:buNone/>
            </a:pPr>
            <a:r>
              <a:t/>
            </a:r>
            <a:endParaRPr sz="1750">
              <a:solidFill>
                <a:schemeClr val="dk1"/>
              </a:solidFill>
            </a:endParaRPr>
          </a:p>
          <a:p>
            <a:pPr indent="0" lvl="0" marL="0" rtl="0" algn="l">
              <a:lnSpc>
                <a:spcPct val="115000"/>
              </a:lnSpc>
              <a:spcBef>
                <a:spcPts val="0"/>
              </a:spcBef>
              <a:spcAft>
                <a:spcPts val="0"/>
              </a:spcAft>
              <a:buNone/>
            </a:pPr>
            <a:r>
              <a:rPr lang="en" sz="1750">
                <a:solidFill>
                  <a:schemeClr val="dk1"/>
                </a:solidFill>
              </a:rPr>
              <a:t>Outliers - values that differ greatly in range from the majority of other values</a:t>
            </a:r>
            <a:endParaRPr sz="1750">
              <a:solidFill>
                <a:schemeClr val="dk1"/>
              </a:solidFill>
            </a:endParaRPr>
          </a:p>
          <a:p>
            <a:pPr indent="0" lvl="0" marL="0" rtl="0" algn="l">
              <a:lnSpc>
                <a:spcPct val="115000"/>
              </a:lnSpc>
              <a:spcBef>
                <a:spcPts val="0"/>
              </a:spcBef>
              <a:spcAft>
                <a:spcPts val="0"/>
              </a:spcAft>
              <a:buNone/>
            </a:pPr>
            <a:r>
              <a:rPr lang="en" sz="1950">
                <a:solidFill>
                  <a:schemeClr val="dk1"/>
                </a:solidFill>
              </a:rPr>
              <a:t>	</a:t>
            </a:r>
            <a:endParaRPr sz="1950">
              <a:solidFill>
                <a:schemeClr val="dk1"/>
              </a:solidFill>
            </a:endParaRPr>
          </a:p>
          <a:p>
            <a:pPr indent="0" lvl="0" marL="0" rtl="0" algn="l">
              <a:lnSpc>
                <a:spcPct val="115000"/>
              </a:lnSpc>
              <a:spcBef>
                <a:spcPts val="0"/>
              </a:spcBef>
              <a:spcAft>
                <a:spcPts val="0"/>
              </a:spcAft>
              <a:buNone/>
            </a:pPr>
            <a:r>
              <a:rPr lang="en" sz="1950">
                <a:solidFill>
                  <a:schemeClr val="dk1"/>
                </a:solidFill>
              </a:rPr>
              <a:t>	</a:t>
            </a:r>
            <a:r>
              <a:rPr lang="en" sz="1550">
                <a:solidFill>
                  <a:schemeClr val="dk1"/>
                </a:solidFill>
              </a:rPr>
              <a:t>Example: most numeric values </a:t>
            </a:r>
            <a:r>
              <a:rPr lang="en" sz="1550">
                <a:solidFill>
                  <a:schemeClr val="dk1"/>
                </a:solidFill>
              </a:rPr>
              <a:t>range</a:t>
            </a:r>
            <a:r>
              <a:rPr lang="en" sz="1550">
                <a:solidFill>
                  <a:schemeClr val="dk1"/>
                </a:solidFill>
              </a:rPr>
              <a:t> from 20 to 100; an </a:t>
            </a:r>
            <a:r>
              <a:rPr lang="en" sz="1550">
                <a:solidFill>
                  <a:schemeClr val="dk1"/>
                </a:solidFill>
              </a:rPr>
              <a:t>outlier might be 2 </a:t>
            </a:r>
            <a:endParaRPr sz="1550">
              <a:solidFill>
                <a:schemeClr val="dk1"/>
              </a:solidFill>
            </a:endParaRPr>
          </a:p>
          <a:p>
            <a:pPr indent="0" lvl="0" marL="0" rtl="0" algn="l">
              <a:lnSpc>
                <a:spcPct val="115000"/>
              </a:lnSpc>
              <a:spcBef>
                <a:spcPts val="0"/>
              </a:spcBef>
              <a:spcAft>
                <a:spcPts val="0"/>
              </a:spcAft>
              <a:buNone/>
            </a:pPr>
            <a:r>
              <a:rPr lang="en" sz="1550">
                <a:solidFill>
                  <a:schemeClr val="dk1"/>
                </a:solidFill>
              </a:rPr>
              <a:t>                          on the lower end or 120 on the upper</a:t>
            </a:r>
            <a:endParaRPr sz="1550">
              <a:solidFill>
                <a:schemeClr val="dk1"/>
              </a:solidFill>
            </a:endParaRPr>
          </a:p>
          <a:p>
            <a:pPr indent="0" lvl="0" marL="0" rtl="0" algn="l">
              <a:lnSpc>
                <a:spcPct val="115000"/>
              </a:lnSpc>
              <a:spcBef>
                <a:spcPts val="0"/>
              </a:spcBef>
              <a:spcAft>
                <a:spcPts val="0"/>
              </a:spcAft>
              <a:buNone/>
            </a:pPr>
            <a:r>
              <a:rPr lang="en" sz="1950">
                <a:solidFill>
                  <a:schemeClr val="dk1"/>
                </a:solidFill>
              </a:rPr>
              <a:t>	</a:t>
            </a:r>
            <a:endParaRPr sz="195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449125" y="306000"/>
            <a:ext cx="8447400" cy="75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0000"/>
              <a:buFont typeface="Arial"/>
              <a:buNone/>
            </a:pPr>
            <a:r>
              <a:rPr lang="en" sz="2200"/>
              <a:t>Preliminary s</a:t>
            </a:r>
            <a:r>
              <a:rPr lang="en" sz="2200"/>
              <a:t>preadsheet for report on missing values, duplicates rows and outliers</a:t>
            </a:r>
            <a:endParaRPr sz="2200"/>
          </a:p>
          <a:p>
            <a:pPr indent="0" lvl="0" marL="0" rtl="0" algn="l">
              <a:spcBef>
                <a:spcPts val="0"/>
              </a:spcBef>
              <a:spcAft>
                <a:spcPts val="0"/>
              </a:spcAft>
              <a:buNone/>
            </a:pPr>
            <a:r>
              <a:t/>
            </a:r>
            <a:endParaRPr/>
          </a:p>
        </p:txBody>
      </p:sp>
      <p:pic>
        <p:nvPicPr>
          <p:cNvPr id="67" name="Google Shape;67;p15"/>
          <p:cNvPicPr preferRelativeResize="0"/>
          <p:nvPr/>
        </p:nvPicPr>
        <p:blipFill>
          <a:blip r:embed="rId3">
            <a:alphaModFix/>
          </a:blip>
          <a:stretch>
            <a:fillRect/>
          </a:stretch>
        </p:blipFill>
        <p:spPr>
          <a:xfrm>
            <a:off x="651575" y="1211100"/>
            <a:ext cx="8193024" cy="3336425"/>
          </a:xfrm>
          <a:prstGeom prst="rect">
            <a:avLst/>
          </a:prstGeom>
          <a:noFill/>
          <a:ln>
            <a:noFill/>
          </a:ln>
        </p:spPr>
      </p:pic>
      <p:sp>
        <p:nvSpPr>
          <p:cNvPr id="68" name="Google Shape;68;p15"/>
          <p:cNvSpPr txBox="1"/>
          <p:nvPr/>
        </p:nvSpPr>
        <p:spPr>
          <a:xfrm>
            <a:off x="1060788" y="4630800"/>
            <a:ext cx="7374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rPr>
              <a:t>The column for missing values is column E; it’s labeled ‘missing_pct’ (for missing percent).</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978525" y="291432"/>
            <a:ext cx="76632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200">
                <a:solidFill>
                  <a:schemeClr val="dk1"/>
                </a:solidFill>
              </a:rPr>
              <a:t>Subsequent spreadsheet for report on missing values, duplicates rows and outliers</a:t>
            </a:r>
            <a:endParaRPr sz="2200">
              <a:solidFill>
                <a:schemeClr val="dk1"/>
              </a:solidFill>
            </a:endParaRPr>
          </a:p>
        </p:txBody>
      </p:sp>
      <p:sp>
        <p:nvSpPr>
          <p:cNvPr id="74" name="Google Shape;74;p16"/>
          <p:cNvSpPr txBox="1"/>
          <p:nvPr/>
        </p:nvSpPr>
        <p:spPr>
          <a:xfrm>
            <a:off x="877950" y="4335125"/>
            <a:ext cx="7388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rPr>
              <a:t>The column for missing values is column E; it’s labeled ‘missing_pct’ (for missing percent).</a:t>
            </a:r>
            <a:endParaRPr>
              <a:solidFill>
                <a:schemeClr val="dk1"/>
              </a:solidFill>
            </a:endParaRPr>
          </a:p>
        </p:txBody>
      </p:sp>
      <p:pic>
        <p:nvPicPr>
          <p:cNvPr id="75" name="Google Shape;75;p16"/>
          <p:cNvPicPr preferRelativeResize="0"/>
          <p:nvPr/>
        </p:nvPicPr>
        <p:blipFill>
          <a:blip r:embed="rId3">
            <a:alphaModFix/>
          </a:blip>
          <a:stretch>
            <a:fillRect/>
          </a:stretch>
        </p:blipFill>
        <p:spPr>
          <a:xfrm>
            <a:off x="1081788" y="1194025"/>
            <a:ext cx="7456666" cy="2836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1019450" y="502350"/>
            <a:ext cx="7118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Explanation for difference between reports</a:t>
            </a:r>
            <a:endParaRPr/>
          </a:p>
        </p:txBody>
      </p:sp>
      <p:sp>
        <p:nvSpPr>
          <p:cNvPr id="81" name="Google Shape;81;p17"/>
          <p:cNvSpPr txBox="1"/>
          <p:nvPr/>
        </p:nvSpPr>
        <p:spPr>
          <a:xfrm>
            <a:off x="720050" y="1358048"/>
            <a:ext cx="7602900" cy="3141000"/>
          </a:xfrm>
          <a:prstGeom prst="rect">
            <a:avLst/>
          </a:prstGeom>
          <a:noFill/>
          <a:ln>
            <a:noFill/>
          </a:ln>
        </p:spPr>
        <p:txBody>
          <a:bodyPr anchorCtr="0" anchor="t" bIns="91425" lIns="91425" spcFirstLastPara="1" rIns="91425" wrap="square" tIns="91425">
            <a:spAutoFit/>
          </a:bodyPr>
          <a:lstStyle/>
          <a:p>
            <a:pPr indent="0" lvl="0" marL="0" rtl="0" algn="l">
              <a:lnSpc>
                <a:spcPct val="125454"/>
              </a:lnSpc>
              <a:spcBef>
                <a:spcPts val="1200"/>
              </a:spcBef>
              <a:spcAft>
                <a:spcPts val="0"/>
              </a:spcAft>
              <a:buNone/>
            </a:pPr>
            <a:r>
              <a:rPr lang="en">
                <a:solidFill>
                  <a:schemeClr val="dk1"/>
                </a:solidFill>
              </a:rPr>
              <a:t>For the files named "PBJ_Daily_Nurse_Staffing_Q2_2024.csv", which contained hours worked for various types of nursing personnel, the outlier density was at 91.66% per the findings. This amount remained high, even after adding the necessary words to the list of "exclude keywords” such as "Provnum”, "County_FIPS” and "MDSCensus”. Adding the exclude_keywords caused the outlier density to be reduced from 96.01%.</a:t>
            </a:r>
            <a:endParaRPr>
              <a:solidFill>
                <a:schemeClr val="dk1"/>
              </a:solidFill>
            </a:endParaRPr>
          </a:p>
          <a:p>
            <a:pPr indent="0" lvl="0" marL="0" rtl="0" algn="l">
              <a:lnSpc>
                <a:spcPct val="125454"/>
              </a:lnSpc>
              <a:spcBef>
                <a:spcPts val="1200"/>
              </a:spcBef>
              <a:spcAft>
                <a:spcPts val="0"/>
              </a:spcAft>
              <a:buNone/>
            </a:pPr>
            <a:r>
              <a:t/>
            </a:r>
            <a:endParaRPr>
              <a:solidFill>
                <a:schemeClr val="dk1"/>
              </a:solidFill>
            </a:endParaRPr>
          </a:p>
          <a:p>
            <a:pPr indent="0" lvl="0" marL="0" rtl="0" algn="l">
              <a:lnSpc>
                <a:spcPct val="125454"/>
              </a:lnSpc>
              <a:spcBef>
                <a:spcPts val="1200"/>
              </a:spcBef>
              <a:spcAft>
                <a:spcPts val="700"/>
              </a:spcAft>
              <a:buNone/>
            </a:pPr>
            <a:r>
              <a:rPr lang="en">
                <a:solidFill>
                  <a:schemeClr val="dk1"/>
                </a:solidFill>
              </a:rPr>
              <a:t>This indicates that the staffing dataset varies widely as far as hours from one institution (or staff member) to another even after </a:t>
            </a:r>
            <a:r>
              <a:rPr lang="en">
                <a:solidFill>
                  <a:schemeClr val="dk1"/>
                </a:solidFill>
              </a:rPr>
              <a:t>investigating</a:t>
            </a:r>
            <a:r>
              <a:rPr lang="en">
                <a:solidFill>
                  <a:schemeClr val="dk1"/>
                </a:solidFill>
              </a:rPr>
              <a:t> the numbers. Active consideration of the legitimate outliers and eliminating invalids as appropriate indicates true staffing levels vary quite a bit from one place to another.</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1557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Missing value report explanation</a:t>
            </a:r>
            <a:endParaRPr/>
          </a:p>
        </p:txBody>
      </p:sp>
      <p:graphicFrame>
        <p:nvGraphicFramePr>
          <p:cNvPr id="87" name="Google Shape;87;p18"/>
          <p:cNvGraphicFramePr/>
          <p:nvPr/>
        </p:nvGraphicFramePr>
        <p:xfrm>
          <a:off x="1398400" y="821920"/>
          <a:ext cx="3000000" cy="3000000"/>
        </p:xfrm>
        <a:graphic>
          <a:graphicData uri="http://schemas.openxmlformats.org/drawingml/2006/table">
            <a:tbl>
              <a:tblPr>
                <a:noFill/>
                <a:tableStyleId>{89E5F40A-E7CD-4C66-B7CC-926A440C0A51}</a:tableStyleId>
              </a:tblPr>
              <a:tblGrid>
                <a:gridCol w="2276475"/>
                <a:gridCol w="933450"/>
                <a:gridCol w="933450"/>
                <a:gridCol w="2031925"/>
              </a:tblGrid>
              <a:tr h="547075">
                <a:tc>
                  <a:txBody>
                    <a:bodyPr/>
                    <a:lstStyle/>
                    <a:p>
                      <a:pPr indent="0" lvl="0" marL="0" rtl="0" algn="ctr">
                        <a:lnSpc>
                          <a:spcPct val="115000"/>
                        </a:lnSpc>
                        <a:spcBef>
                          <a:spcPts val="0"/>
                        </a:spcBef>
                        <a:spcAft>
                          <a:spcPts val="0"/>
                        </a:spcAft>
                        <a:buNone/>
                      </a:pPr>
                      <a:r>
                        <a:t/>
                      </a:r>
                      <a:endParaRPr/>
                    </a:p>
                    <a:p>
                      <a:pPr indent="0" lvl="0" marL="0" rtl="0" algn="ctr">
                        <a:lnSpc>
                          <a:spcPct val="115000"/>
                        </a:lnSpc>
                        <a:spcBef>
                          <a:spcPts val="0"/>
                        </a:spcBef>
                        <a:spcAft>
                          <a:spcPts val="0"/>
                        </a:spcAft>
                        <a:buNone/>
                      </a:pPr>
                      <a:r>
                        <a:rPr lang="en"/>
                        <a:t>File name</a:t>
                      </a:r>
                      <a:endParaRPr/>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a:p>
                    <a:p>
                      <a:pPr indent="0" lvl="0" marL="0" rtl="0" algn="ctr">
                        <a:lnSpc>
                          <a:spcPct val="115000"/>
                        </a:lnSpc>
                        <a:spcBef>
                          <a:spcPts val="0"/>
                        </a:spcBef>
                        <a:spcAft>
                          <a:spcPts val="0"/>
                        </a:spcAft>
                        <a:buNone/>
                      </a:pPr>
                      <a:r>
                        <a:rPr lang="en"/>
                        <a:t>Purpose</a:t>
                      </a:r>
                      <a:endParaRPr/>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Missing value %</a:t>
                      </a:r>
                      <a:endParaRPr/>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Explanation</a:t>
                      </a:r>
                      <a:r>
                        <a:rPr lang="en"/>
                        <a:t> for missing values</a:t>
                      </a:r>
                      <a:endParaRPr/>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3025">
                <a:tc>
                  <a:txBody>
                    <a:bodyPr/>
                    <a:lstStyle/>
                    <a:p>
                      <a:pPr indent="0" lvl="0" marL="0" rtl="0" algn="ctr">
                        <a:lnSpc>
                          <a:spcPct val="115000"/>
                        </a:lnSpc>
                        <a:spcBef>
                          <a:spcPts val="0"/>
                        </a:spcBef>
                        <a:spcAft>
                          <a:spcPts val="0"/>
                        </a:spcAft>
                        <a:buNone/>
                      </a:pPr>
                      <a:r>
                        <a:rPr lang="en" sz="850"/>
                        <a:t>FY_2024_SNF_VBP_Facility_Performance.csv</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nursing facility performance</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35</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footnote columns that aren’t data populated</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9450">
                <a:tc>
                  <a:txBody>
                    <a:bodyPr/>
                    <a:lstStyle/>
                    <a:p>
                      <a:pPr indent="0" lvl="0" marL="0" rtl="0" algn="ctr">
                        <a:lnSpc>
                          <a:spcPct val="115000"/>
                        </a:lnSpc>
                        <a:spcBef>
                          <a:spcPts val="0"/>
                        </a:spcBef>
                        <a:spcAft>
                          <a:spcPts val="0"/>
                        </a:spcAft>
                        <a:buNone/>
                      </a:pPr>
                      <a:r>
                        <a:rPr lang="en" sz="850"/>
                        <a:t>NH_QualityMsr_MDS_Oct2024.csv</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quarterly scores for various nursing home measurements</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21.74</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footnote columns that aren’t data populated</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3725">
                <a:tc>
                  <a:txBody>
                    <a:bodyPr/>
                    <a:lstStyle/>
                    <a:p>
                      <a:pPr indent="0" lvl="0" marL="0" rtl="0" algn="ctr">
                        <a:lnSpc>
                          <a:spcPct val="115000"/>
                        </a:lnSpc>
                        <a:spcBef>
                          <a:spcPts val="0"/>
                        </a:spcBef>
                        <a:spcAft>
                          <a:spcPts val="0"/>
                        </a:spcAft>
                        <a:buNone/>
                      </a:pPr>
                      <a:r>
                        <a:rPr lang="en" sz="850"/>
                        <a:t>NH_DataCollectionIntervals_Oct2024.csv</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from &amp; to dates of various measures</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16.67</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a ‘date range’ column that isn’t being used</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49075">
                <a:tc>
                  <a:txBody>
                    <a:bodyPr/>
                    <a:lstStyle/>
                    <a:p>
                      <a:pPr indent="0" lvl="0" marL="0" rtl="0" algn="ctr">
                        <a:lnSpc>
                          <a:spcPct val="115000"/>
                        </a:lnSpc>
                        <a:spcBef>
                          <a:spcPts val="0"/>
                        </a:spcBef>
                        <a:spcAft>
                          <a:spcPts val="0"/>
                        </a:spcAft>
                        <a:buNone/>
                      </a:pPr>
                      <a:r>
                        <a:rPr lang="en" sz="850"/>
                        <a:t>NH_ProviderInfo_Oct2024.csv</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mostly staffing to patient ratios</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15.23</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“special status focus” column that isn’t data populated in most cases, several footnote columns are blank, few instances of numeric values being written in footnote column instead of the numeric value column</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6250">
                <a:tc>
                  <a:txBody>
                    <a:bodyPr/>
                    <a:lstStyle/>
                    <a:p>
                      <a:pPr indent="0" lvl="0" marL="0" rtl="0" algn="ctr">
                        <a:lnSpc>
                          <a:spcPct val="115000"/>
                        </a:lnSpc>
                        <a:spcBef>
                          <a:spcPts val="0"/>
                        </a:spcBef>
                        <a:spcAft>
                          <a:spcPts val="0"/>
                        </a:spcAft>
                        <a:buNone/>
                      </a:pPr>
                      <a:r>
                        <a:rPr lang="en" sz="850"/>
                        <a:t>NH_QualityMsr_Claims_Oct2024.csv</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various measures for different patient types</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8.29</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50"/>
                        <a:t>various score columns aren’t data populated; a footnote column that isn’t used</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8775">
                <a:tc>
                  <a:txBody>
                    <a:bodyPr/>
                    <a:lstStyle/>
                    <a:p>
                      <a:pPr indent="0" lvl="0" marL="0" rtl="0" algn="ctr">
                        <a:lnSpc>
                          <a:spcPct val="115000"/>
                        </a:lnSpc>
                        <a:spcBef>
                          <a:spcPts val="0"/>
                        </a:spcBef>
                        <a:spcAft>
                          <a:spcPts val="0"/>
                        </a:spcAft>
                        <a:buNone/>
                      </a:pPr>
                      <a:r>
                        <a:rPr lang="en" sz="850"/>
                        <a:t>NH_StateUSAverages_Oct2024.csv</a:t>
                      </a:r>
                      <a:endParaRPr sz="8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50"/>
                        <a:t>averages for various metrics per state</a:t>
                      </a:r>
                      <a:endParaRPr sz="7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50"/>
                        <a:t>2.01</a:t>
                      </a:r>
                      <a:endParaRPr sz="7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50"/>
                        <a:t>various numeric values not data populated</a:t>
                      </a:r>
                      <a:endParaRPr sz="750"/>
                    </a:p>
                  </a:txBody>
                  <a:tcPr marT="38100" marB="38100" marR="38100" marL="381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Key </a:t>
            </a:r>
            <a:r>
              <a:rPr lang="en"/>
              <a:t>columns</a:t>
            </a:r>
            <a:r>
              <a:rPr lang="en"/>
              <a:t> for joins &amp; data exploration</a:t>
            </a:r>
            <a:endParaRPr/>
          </a:p>
        </p:txBody>
      </p:sp>
      <p:sp>
        <p:nvSpPr>
          <p:cNvPr id="93" name="Google Shape;93;p19"/>
          <p:cNvSpPr txBox="1"/>
          <p:nvPr/>
        </p:nvSpPr>
        <p:spPr>
          <a:xfrm>
            <a:off x="748400" y="1386600"/>
            <a:ext cx="8084100" cy="2544900"/>
          </a:xfrm>
          <a:prstGeom prst="rect">
            <a:avLst/>
          </a:prstGeom>
          <a:noFill/>
          <a:ln>
            <a:noFill/>
          </a:ln>
        </p:spPr>
        <p:txBody>
          <a:bodyPr anchorCtr="0" anchor="t" bIns="91425" lIns="91425" spcFirstLastPara="1" rIns="91425" wrap="square" tIns="91425">
            <a:spAutoFit/>
          </a:bodyPr>
          <a:lstStyle/>
          <a:p>
            <a:pPr indent="0" lvl="0" marL="0" rtl="0" algn="l">
              <a:lnSpc>
                <a:spcPct val="130909"/>
              </a:lnSpc>
              <a:spcBef>
                <a:spcPts val="1200"/>
              </a:spcBef>
              <a:spcAft>
                <a:spcPts val="0"/>
              </a:spcAft>
              <a:buNone/>
            </a:pPr>
            <a:r>
              <a:rPr lang="en">
                <a:solidFill>
                  <a:schemeClr val="dk1"/>
                </a:solidFill>
              </a:rPr>
              <a:t>PBJ_Daily_Nurse_Staffing_Q2_2024.csv 		PROVNUM (equates to CMS Certificatio</a:t>
            </a:r>
            <a:r>
              <a:rPr lang="en">
                <a:solidFill>
                  <a:schemeClr val="dk1"/>
                </a:solidFill>
              </a:rPr>
              <a:t>n      </a:t>
            </a:r>
            <a:endParaRPr>
              <a:solidFill>
                <a:schemeClr val="dk1"/>
              </a:solidFill>
            </a:endParaRPr>
          </a:p>
          <a:p>
            <a:pPr indent="457200" lvl="0" marL="4114800" rtl="0" algn="l">
              <a:lnSpc>
                <a:spcPct val="130909"/>
              </a:lnSpc>
              <a:spcBef>
                <a:spcPts val="1200"/>
              </a:spcBef>
              <a:spcAft>
                <a:spcPts val="0"/>
              </a:spcAft>
              <a:buNone/>
            </a:pPr>
            <a:r>
              <a:rPr lang="en">
                <a:solidFill>
                  <a:schemeClr val="dk1"/>
                </a:solidFill>
              </a:rPr>
              <a:t>Number (CCN) on other files)</a:t>
            </a:r>
            <a:endParaRPr>
              <a:solidFill>
                <a:schemeClr val="dk1"/>
              </a:solidFill>
            </a:endParaRPr>
          </a:p>
          <a:p>
            <a:pPr indent="0" lvl="0" marL="0" rtl="0" algn="l">
              <a:lnSpc>
                <a:spcPct val="125454"/>
              </a:lnSpc>
              <a:spcBef>
                <a:spcPts val="1200"/>
              </a:spcBef>
              <a:spcAft>
                <a:spcPts val="0"/>
              </a:spcAft>
              <a:buNone/>
            </a:pPr>
            <a:r>
              <a:rPr lang="en">
                <a:solidFill>
                  <a:schemeClr val="dk1"/>
                </a:solidFill>
              </a:rPr>
              <a:t>NH_ProviderInfo_Oct2024.csv 				CMS Certification Number (CCN)</a:t>
            </a:r>
            <a:endParaRPr>
              <a:solidFill>
                <a:schemeClr val="dk1"/>
              </a:solidFill>
            </a:endParaRPr>
          </a:p>
          <a:p>
            <a:pPr indent="0" lvl="0" marL="0" rtl="0" algn="l">
              <a:lnSpc>
                <a:spcPct val="125454"/>
              </a:lnSpc>
              <a:spcBef>
                <a:spcPts val="1200"/>
              </a:spcBef>
              <a:spcAft>
                <a:spcPts val="0"/>
              </a:spcAft>
              <a:buNone/>
            </a:pPr>
            <a:r>
              <a:rPr lang="en">
                <a:solidFill>
                  <a:schemeClr val="dk1"/>
                </a:solidFill>
              </a:rPr>
              <a:t>NH_StateUSAverages_Oct2024.csv 			Nation or State</a:t>
            </a:r>
            <a:endParaRPr>
              <a:solidFill>
                <a:schemeClr val="dk1"/>
              </a:solidFill>
            </a:endParaRPr>
          </a:p>
          <a:p>
            <a:pPr indent="0" lvl="0" marL="0" rtl="0" algn="l">
              <a:lnSpc>
                <a:spcPct val="125454"/>
              </a:lnSpc>
              <a:spcBef>
                <a:spcPts val="1200"/>
              </a:spcBef>
              <a:spcAft>
                <a:spcPts val="0"/>
              </a:spcAft>
              <a:buNone/>
            </a:pPr>
            <a:r>
              <a:rPr lang="en">
                <a:solidFill>
                  <a:schemeClr val="dk1"/>
                </a:solidFill>
              </a:rPr>
              <a:t>NH_QualityMsr_MDS_Oct2024.csv 			CMS Certification Number (CCN), </a:t>
            </a:r>
            <a:endParaRPr>
              <a:solidFill>
                <a:schemeClr val="dk1"/>
              </a:solidFill>
            </a:endParaRPr>
          </a:p>
          <a:p>
            <a:pPr indent="457200" lvl="0" marL="4114800" rtl="0" algn="l">
              <a:lnSpc>
                <a:spcPct val="125454"/>
              </a:lnSpc>
              <a:spcBef>
                <a:spcPts val="1200"/>
              </a:spcBef>
              <a:spcAft>
                <a:spcPts val="700"/>
              </a:spcAft>
              <a:buNone/>
            </a:pPr>
            <a:r>
              <a:rPr lang="en">
                <a:solidFill>
                  <a:schemeClr val="dk1"/>
                </a:solidFill>
              </a:rPr>
              <a:t>Measure Code</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RN Staffing per Ownership Type</a:t>
            </a:r>
            <a:endParaRPr/>
          </a:p>
        </p:txBody>
      </p:sp>
      <p:pic>
        <p:nvPicPr>
          <p:cNvPr id="99" name="Google Shape;99;p20"/>
          <p:cNvPicPr preferRelativeResize="0"/>
          <p:nvPr/>
        </p:nvPicPr>
        <p:blipFill>
          <a:blip r:embed="rId3">
            <a:alphaModFix/>
          </a:blip>
          <a:stretch>
            <a:fillRect/>
          </a:stretch>
        </p:blipFill>
        <p:spPr>
          <a:xfrm>
            <a:off x="483700" y="880250"/>
            <a:ext cx="7716386" cy="3820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Average Rating per O</a:t>
            </a:r>
            <a:r>
              <a:rPr lang="en"/>
              <a:t>wnership Type</a:t>
            </a:r>
            <a:endParaRPr/>
          </a:p>
        </p:txBody>
      </p:sp>
      <p:pic>
        <p:nvPicPr>
          <p:cNvPr id="105" name="Google Shape;105;p21"/>
          <p:cNvPicPr preferRelativeResize="0"/>
          <p:nvPr/>
        </p:nvPicPr>
        <p:blipFill>
          <a:blip r:embed="rId3">
            <a:alphaModFix/>
          </a:blip>
          <a:stretch>
            <a:fillRect/>
          </a:stretch>
        </p:blipFill>
        <p:spPr>
          <a:xfrm>
            <a:off x="540050" y="1073100"/>
            <a:ext cx="7751362" cy="382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Ownership Type per Average RN Hour per Res per Day</a:t>
            </a:r>
            <a:endParaRPr/>
          </a:p>
        </p:txBody>
      </p:sp>
      <p:pic>
        <p:nvPicPr>
          <p:cNvPr id="111" name="Google Shape;111;p22"/>
          <p:cNvPicPr preferRelativeResize="0"/>
          <p:nvPr/>
        </p:nvPicPr>
        <p:blipFill>
          <a:blip r:embed="rId3">
            <a:alphaModFix/>
          </a:blip>
          <a:stretch>
            <a:fillRect/>
          </a:stretch>
        </p:blipFill>
        <p:spPr>
          <a:xfrm>
            <a:off x="1260825" y="1017725"/>
            <a:ext cx="6155651" cy="38209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Comparison of Ownership Types vs Staffing &amp; Rating</a:t>
            </a:r>
            <a:endParaRPr/>
          </a:p>
        </p:txBody>
      </p:sp>
      <p:pic>
        <p:nvPicPr>
          <p:cNvPr id="117" name="Google Shape;117;p23"/>
          <p:cNvPicPr preferRelativeResize="0"/>
          <p:nvPr/>
        </p:nvPicPr>
        <p:blipFill>
          <a:blip r:embed="rId3">
            <a:alphaModFix/>
          </a:blip>
          <a:stretch>
            <a:fillRect/>
          </a:stretch>
        </p:blipFill>
        <p:spPr>
          <a:xfrm>
            <a:off x="1610850" y="1322525"/>
            <a:ext cx="5239239" cy="38209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Average RN Hours per Resident Day per Overall Rating</a:t>
            </a:r>
            <a:endParaRPr/>
          </a:p>
        </p:txBody>
      </p:sp>
      <p:pic>
        <p:nvPicPr>
          <p:cNvPr id="123" name="Google Shape;123;p24"/>
          <p:cNvPicPr preferRelativeResize="0"/>
          <p:nvPr/>
        </p:nvPicPr>
        <p:blipFill>
          <a:blip r:embed="rId3">
            <a:alphaModFix/>
          </a:blip>
          <a:stretch>
            <a:fillRect/>
          </a:stretch>
        </p:blipFill>
        <p:spPr>
          <a:xfrm>
            <a:off x="1562250" y="1150675"/>
            <a:ext cx="5795411" cy="38209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Average RN Hours per Resident Day per State</a:t>
            </a:r>
            <a:endParaRPr/>
          </a:p>
        </p:txBody>
      </p:sp>
      <p:pic>
        <p:nvPicPr>
          <p:cNvPr id="129" name="Google Shape;129;p25"/>
          <p:cNvPicPr preferRelativeResize="0"/>
          <p:nvPr/>
        </p:nvPicPr>
        <p:blipFill>
          <a:blip r:embed="rId3">
            <a:alphaModFix/>
          </a:blip>
          <a:stretch>
            <a:fillRect/>
          </a:stretch>
        </p:blipFill>
        <p:spPr>
          <a:xfrm>
            <a:off x="152400" y="1170125"/>
            <a:ext cx="7291125" cy="38209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Median RN Staffing per facility size</a:t>
            </a:r>
            <a:endParaRPr/>
          </a:p>
        </p:txBody>
      </p:sp>
      <p:pic>
        <p:nvPicPr>
          <p:cNvPr id="135" name="Google Shape;135;p26"/>
          <p:cNvPicPr preferRelativeResize="0"/>
          <p:nvPr/>
        </p:nvPicPr>
        <p:blipFill>
          <a:blip r:embed="rId3">
            <a:alphaModFix/>
          </a:blip>
          <a:stretch>
            <a:fillRect/>
          </a:stretch>
        </p:blipFill>
        <p:spPr>
          <a:xfrm>
            <a:off x="1406675" y="1218748"/>
            <a:ext cx="5692035" cy="38209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RN Hours per Resident Day per Overall Rating</a:t>
            </a:r>
            <a:endParaRPr/>
          </a:p>
        </p:txBody>
      </p:sp>
      <p:pic>
        <p:nvPicPr>
          <p:cNvPr id="141" name="Google Shape;141;p27"/>
          <p:cNvPicPr preferRelativeResize="0"/>
          <p:nvPr/>
        </p:nvPicPr>
        <p:blipFill>
          <a:blip r:embed="rId3">
            <a:alphaModFix/>
          </a:blip>
          <a:stretch>
            <a:fillRect/>
          </a:stretch>
        </p:blipFill>
        <p:spPr>
          <a:xfrm>
            <a:off x="1221925" y="1017725"/>
            <a:ext cx="6196929" cy="382097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Comparison of Rating Types</a:t>
            </a:r>
            <a:endParaRPr/>
          </a:p>
        </p:txBody>
      </p:sp>
      <p:pic>
        <p:nvPicPr>
          <p:cNvPr id="147" name="Google Shape;147;p28"/>
          <p:cNvPicPr preferRelativeResize="0"/>
          <p:nvPr/>
        </p:nvPicPr>
        <p:blipFill>
          <a:blip r:embed="rId3">
            <a:alphaModFix/>
          </a:blip>
          <a:stretch>
            <a:fillRect/>
          </a:stretch>
        </p:blipFill>
        <p:spPr>
          <a:xfrm>
            <a:off x="152400" y="1170125"/>
            <a:ext cx="8839201" cy="29275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9"/>
          <p:cNvPicPr preferRelativeResize="0"/>
          <p:nvPr/>
        </p:nvPicPr>
        <p:blipFill>
          <a:blip r:embed="rId3">
            <a:alphaModFix/>
          </a:blip>
          <a:stretch>
            <a:fillRect/>
          </a:stretch>
        </p:blipFill>
        <p:spPr>
          <a:xfrm>
            <a:off x="1205650" y="982375"/>
            <a:ext cx="6826350" cy="4161126"/>
          </a:xfrm>
          <a:prstGeom prst="rect">
            <a:avLst/>
          </a:prstGeom>
          <a:noFill/>
          <a:ln>
            <a:noFill/>
          </a:ln>
        </p:spPr>
      </p:pic>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RN Staffing per Resident Day per Number of Facilities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30"/>
          <p:cNvPicPr preferRelativeResize="0"/>
          <p:nvPr/>
        </p:nvPicPr>
        <p:blipFill>
          <a:blip r:embed="rId3">
            <a:alphaModFix/>
          </a:blip>
          <a:stretch>
            <a:fillRect/>
          </a:stretch>
        </p:blipFill>
        <p:spPr>
          <a:xfrm>
            <a:off x="152400" y="182538"/>
            <a:ext cx="8297232" cy="48386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2981900" y="157075"/>
            <a:ext cx="35028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2400"/>
              <a:t>Google Drive API (part 1)</a:t>
            </a:r>
            <a:endParaRPr sz="2400"/>
          </a:p>
          <a:p>
            <a:pPr indent="0" lvl="0" marL="0" rtl="0" algn="l">
              <a:spcBef>
                <a:spcPts val="0"/>
              </a:spcBef>
              <a:spcAft>
                <a:spcPts val="0"/>
              </a:spcAft>
              <a:buNone/>
            </a:pPr>
            <a:r>
              <a:t/>
            </a:r>
            <a:endParaRPr/>
          </a:p>
        </p:txBody>
      </p:sp>
      <p:sp>
        <p:nvSpPr>
          <p:cNvPr id="164" name="Google Shape;164;p31"/>
          <p:cNvSpPr txBox="1"/>
          <p:nvPr/>
        </p:nvSpPr>
        <p:spPr>
          <a:xfrm>
            <a:off x="546450" y="959025"/>
            <a:ext cx="805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https://drive.google.com/file/d/1O2Q6PRTMJ3N4yA2JL2_hvH9audgnMBA1/view?usp=drive_link</a:t>
            </a:r>
            <a:endParaRPr/>
          </a:p>
        </p:txBody>
      </p:sp>
      <p:sp>
        <p:nvSpPr>
          <p:cNvPr id="165" name="Google Shape;165;p31"/>
          <p:cNvSpPr txBox="1"/>
          <p:nvPr/>
        </p:nvSpPr>
        <p:spPr>
          <a:xfrm>
            <a:off x="546450" y="577375"/>
            <a:ext cx="131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Located at:</a:t>
            </a:r>
            <a:endParaRPr sz="1800"/>
          </a:p>
        </p:txBody>
      </p:sp>
      <p:sp>
        <p:nvSpPr>
          <p:cNvPr id="166" name="Google Shape;166;p31"/>
          <p:cNvSpPr txBox="1"/>
          <p:nvPr/>
        </p:nvSpPr>
        <p:spPr>
          <a:xfrm>
            <a:off x="1931700" y="1406400"/>
            <a:ext cx="4899600" cy="352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rPr>
              <a:t>Import statements used:</a:t>
            </a:r>
            <a:endParaRPr sz="1000">
              <a:solidFill>
                <a:schemeClr val="dk1"/>
              </a:solidFill>
            </a:endParaRPr>
          </a:p>
          <a:p>
            <a:pPr indent="0" lvl="0" marL="0" rtl="0" algn="l">
              <a:lnSpc>
                <a:spcPct val="115000"/>
              </a:lnSpc>
              <a:spcBef>
                <a:spcPts val="0"/>
              </a:spcBef>
              <a:spcAft>
                <a:spcPts val="0"/>
              </a:spcAft>
              <a:buNone/>
            </a:pPr>
            <a:r>
              <a:t/>
            </a:r>
            <a:endParaRPr sz="1000">
              <a:solidFill>
                <a:schemeClr val="dk1"/>
              </a:solidFill>
            </a:endParaRPr>
          </a:p>
          <a:p>
            <a:pPr indent="0" lvl="0" marL="457200" rtl="0" algn="l">
              <a:lnSpc>
                <a:spcPct val="115000"/>
              </a:lnSpc>
              <a:spcBef>
                <a:spcPts val="0"/>
              </a:spcBef>
              <a:spcAft>
                <a:spcPts val="0"/>
              </a:spcAft>
              <a:buNone/>
            </a:pPr>
            <a:r>
              <a:rPr lang="en" sz="1000">
                <a:solidFill>
                  <a:schemeClr val="dk1"/>
                </a:solidFill>
              </a:rPr>
              <a:t>import io  (handles input/output operations)</a:t>
            </a:r>
            <a:endParaRPr sz="1000">
              <a:solidFill>
                <a:schemeClr val="dk1"/>
              </a:solidFill>
            </a:endParaRPr>
          </a:p>
          <a:p>
            <a:pPr indent="0" lvl="0" marL="457200" rtl="0" algn="l">
              <a:lnSpc>
                <a:spcPct val="115000"/>
              </a:lnSpc>
              <a:spcBef>
                <a:spcPts val="0"/>
              </a:spcBef>
              <a:spcAft>
                <a:spcPts val="0"/>
              </a:spcAft>
              <a:buNone/>
            </a:pPr>
            <a:r>
              <a:rPr lang="en" sz="1000">
                <a:solidFill>
                  <a:schemeClr val="dk1"/>
                </a:solidFill>
              </a:rPr>
              <a:t>import os  (interaction with underlying operating system)</a:t>
            </a:r>
            <a:endParaRPr sz="1000">
              <a:solidFill>
                <a:schemeClr val="dk1"/>
              </a:solidFill>
            </a:endParaRPr>
          </a:p>
          <a:p>
            <a:pPr indent="0" lvl="0" marL="457200" rtl="0" algn="l">
              <a:lnSpc>
                <a:spcPct val="115000"/>
              </a:lnSpc>
              <a:spcBef>
                <a:spcPts val="0"/>
              </a:spcBef>
              <a:spcAft>
                <a:spcPts val="0"/>
              </a:spcAft>
              <a:buNone/>
            </a:pPr>
            <a:r>
              <a:rPr lang="en" sz="1000">
                <a:solidFill>
                  <a:schemeClr val="dk1"/>
                </a:solidFill>
              </a:rPr>
              <a:t>from googleapiclient.discovery import build</a:t>
            </a:r>
            <a:endParaRPr sz="1000">
              <a:solidFill>
                <a:schemeClr val="dk1"/>
              </a:solidFill>
            </a:endParaRPr>
          </a:p>
          <a:p>
            <a:pPr indent="0" lvl="0" marL="457200" rtl="0" algn="l">
              <a:lnSpc>
                <a:spcPct val="115000"/>
              </a:lnSpc>
              <a:spcBef>
                <a:spcPts val="0"/>
              </a:spcBef>
              <a:spcAft>
                <a:spcPts val="0"/>
              </a:spcAft>
              <a:buNone/>
            </a:pPr>
            <a:r>
              <a:rPr lang="en" sz="1000">
                <a:solidFill>
                  <a:schemeClr val="dk1"/>
                </a:solidFill>
              </a:rPr>
              <a:t>from googleapiclient.http import MediaIoBaseDownload</a:t>
            </a:r>
            <a:endParaRPr sz="1000">
              <a:solidFill>
                <a:schemeClr val="dk1"/>
              </a:solidFill>
            </a:endParaRPr>
          </a:p>
          <a:p>
            <a:pPr indent="0" lvl="0" marL="457200" rtl="0" algn="l">
              <a:lnSpc>
                <a:spcPct val="115000"/>
              </a:lnSpc>
              <a:spcBef>
                <a:spcPts val="0"/>
              </a:spcBef>
              <a:spcAft>
                <a:spcPts val="0"/>
              </a:spcAft>
              <a:buNone/>
            </a:pPr>
            <a:r>
              <a:rPr lang="en" sz="1000">
                <a:solidFill>
                  <a:schemeClr val="dk1"/>
                </a:solidFill>
              </a:rPr>
              <a:t>from google_auth_oauthlib.flow import InstalledAppFlow</a:t>
            </a:r>
            <a:endParaRPr sz="1000">
              <a:solidFill>
                <a:schemeClr val="dk1"/>
              </a:solidFill>
            </a:endParaRPr>
          </a:p>
          <a:p>
            <a:pPr indent="0" lvl="0" marL="457200" rtl="0" algn="l">
              <a:lnSpc>
                <a:spcPct val="115000"/>
              </a:lnSpc>
              <a:spcBef>
                <a:spcPts val="0"/>
              </a:spcBef>
              <a:spcAft>
                <a:spcPts val="0"/>
              </a:spcAft>
              <a:buNone/>
            </a:pPr>
            <a:r>
              <a:rPr lang="en" sz="1000">
                <a:solidFill>
                  <a:schemeClr val="dk1"/>
                </a:solidFill>
              </a:rPr>
              <a:t>from google.auth.transport.requests import Request</a:t>
            </a:r>
            <a:endParaRPr sz="1000">
              <a:solidFill>
                <a:schemeClr val="dk1"/>
              </a:solidFill>
            </a:endParaRPr>
          </a:p>
          <a:p>
            <a:pPr indent="0" lvl="0" marL="457200" rtl="0" algn="l">
              <a:lnSpc>
                <a:spcPct val="115000"/>
              </a:lnSpc>
              <a:spcBef>
                <a:spcPts val="0"/>
              </a:spcBef>
              <a:spcAft>
                <a:spcPts val="0"/>
              </a:spcAft>
              <a:buNone/>
            </a:pPr>
            <a:r>
              <a:rPr lang="en" sz="1000">
                <a:solidFill>
                  <a:schemeClr val="dk1"/>
                </a:solidFill>
              </a:rPr>
              <a:t>from google.oauth2.credentials import Credentials</a:t>
            </a:r>
            <a:endParaRPr sz="1000">
              <a:solidFill>
                <a:schemeClr val="dk1"/>
              </a:solidFill>
            </a:endParaRPr>
          </a:p>
          <a:p>
            <a:pPr indent="0" lvl="0" marL="457200" rtl="0" algn="l">
              <a:lnSpc>
                <a:spcPct val="115000"/>
              </a:lnSpc>
              <a:spcBef>
                <a:spcPts val="0"/>
              </a:spcBef>
              <a:spcAft>
                <a:spcPts val="0"/>
              </a:spcAft>
              <a:buNone/>
            </a:pPr>
            <a:r>
              <a:rPr lang="en" sz="1000">
                <a:solidFill>
                  <a:schemeClr val="dk1"/>
                </a:solidFill>
              </a:rPr>
              <a:t>import boto3</a:t>
            </a:r>
            <a:endParaRPr sz="1000">
              <a:solidFill>
                <a:schemeClr val="dk1"/>
              </a:solidFill>
            </a:endParaRPr>
          </a:p>
          <a:p>
            <a:pPr indent="0" lvl="0" marL="0" rtl="0" algn="l">
              <a:lnSpc>
                <a:spcPct val="115000"/>
              </a:lnSpc>
              <a:spcBef>
                <a:spcPts val="0"/>
              </a:spcBef>
              <a:spcAft>
                <a:spcPts val="0"/>
              </a:spcAft>
              <a:buNone/>
            </a:pPr>
            <a:r>
              <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Included above are import statements that are specific to the Google APIs Client Library for Python.  They’re used for:</a:t>
            </a:r>
            <a:endParaRPr sz="1000">
              <a:solidFill>
                <a:schemeClr val="dk1"/>
              </a:solidFill>
            </a:endParaRPr>
          </a:p>
          <a:p>
            <a:pPr indent="0" lvl="0" marL="0" rtl="0" algn="l">
              <a:lnSpc>
                <a:spcPct val="115000"/>
              </a:lnSpc>
              <a:spcBef>
                <a:spcPts val="0"/>
              </a:spcBef>
              <a:spcAft>
                <a:spcPts val="0"/>
              </a:spcAft>
              <a:buNone/>
            </a:pPr>
            <a:r>
              <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handle downloading of binary files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allowing of file operations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                grant permissions</a:t>
            </a:r>
            <a:endParaRPr sz="1000">
              <a:solidFill>
                <a:schemeClr val="dk1"/>
              </a:solidFill>
            </a:endParaRPr>
          </a:p>
          <a:p>
            <a:pPr indent="0" lvl="0" marL="0" rtl="0" algn="l">
              <a:lnSpc>
                <a:spcPct val="115000"/>
              </a:lnSpc>
              <a:spcBef>
                <a:spcPts val="0"/>
              </a:spcBef>
              <a:spcAft>
                <a:spcPts val="0"/>
              </a:spcAft>
              <a:buNone/>
            </a:pPr>
            <a:r>
              <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boto3 is for interaction with AWS services</a:t>
            </a:r>
            <a:endParaRPr sz="1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nvSpPr>
        <p:spPr>
          <a:xfrm>
            <a:off x="2250275" y="391775"/>
            <a:ext cx="42192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chemeClr val="dk1"/>
                </a:solidFill>
              </a:rPr>
              <a:t>Google Drive API (part 2)</a:t>
            </a:r>
            <a:endParaRPr/>
          </a:p>
        </p:txBody>
      </p:sp>
      <p:sp>
        <p:nvSpPr>
          <p:cNvPr id="172" name="Google Shape;172;p32"/>
          <p:cNvSpPr txBox="1"/>
          <p:nvPr/>
        </p:nvSpPr>
        <p:spPr>
          <a:xfrm>
            <a:off x="1062025" y="1285875"/>
            <a:ext cx="7329300" cy="332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functions:      </a:t>
            </a:r>
            <a:endParaRPr sz="1800">
              <a:solidFill>
                <a:schemeClr val="dk1"/>
              </a:solidFill>
            </a:endParaRPr>
          </a:p>
          <a:p>
            <a:pPr indent="457200" lvl="0" marL="457200" rtl="0" algn="l">
              <a:lnSpc>
                <a:spcPct val="115000"/>
              </a:lnSpc>
              <a:spcBef>
                <a:spcPts val="0"/>
              </a:spcBef>
              <a:spcAft>
                <a:spcPts val="0"/>
              </a:spcAft>
              <a:buNone/>
            </a:pPr>
            <a:r>
              <a:rPr lang="en" sz="1800">
                <a:solidFill>
                  <a:schemeClr val="dk1"/>
                </a:solidFill>
              </a:rPr>
              <a:t>def get_drive_service()</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                        </a:t>
            </a:r>
            <a:endParaRPr sz="1800">
              <a:solidFill>
                <a:schemeClr val="dk1"/>
              </a:solidFill>
            </a:endParaRPr>
          </a:p>
          <a:p>
            <a:pPr indent="457200" lvl="0" marL="914400" rtl="0" algn="l">
              <a:lnSpc>
                <a:spcPct val="115000"/>
              </a:lnSpc>
              <a:spcBef>
                <a:spcPts val="0"/>
              </a:spcBef>
              <a:spcAft>
                <a:spcPts val="0"/>
              </a:spcAft>
              <a:buNone/>
            </a:pPr>
            <a:r>
              <a:rPr lang="en" sz="1800">
                <a:solidFill>
                  <a:schemeClr val="dk1"/>
                </a:solidFill>
              </a:rPr>
              <a:t>Verifies user credentials and returns API client</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               </a:t>
            </a:r>
            <a:endParaRPr sz="1800">
              <a:solidFill>
                <a:schemeClr val="dk1"/>
              </a:solidFill>
            </a:endParaRPr>
          </a:p>
          <a:p>
            <a:pPr indent="457200" lvl="0" marL="457200" rtl="0" algn="l">
              <a:lnSpc>
                <a:spcPct val="115000"/>
              </a:lnSpc>
              <a:spcBef>
                <a:spcPts val="0"/>
              </a:spcBef>
              <a:spcAft>
                <a:spcPts val="0"/>
              </a:spcAft>
              <a:buNone/>
            </a:pPr>
            <a:r>
              <a:rPr lang="en" sz="1800">
                <a:solidFill>
                  <a:schemeClr val="dk1"/>
                </a:solidFill>
              </a:rPr>
              <a:t>def transfer_drive_to_s3()</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                        </a:t>
            </a:r>
            <a:endParaRPr sz="1800">
              <a:solidFill>
                <a:schemeClr val="dk1"/>
              </a:solidFill>
            </a:endParaRPr>
          </a:p>
          <a:p>
            <a:pPr indent="0" lvl="0" marL="1371600" rtl="0" algn="l">
              <a:lnSpc>
                <a:spcPct val="115000"/>
              </a:lnSpc>
              <a:spcBef>
                <a:spcPts val="0"/>
              </a:spcBef>
              <a:spcAft>
                <a:spcPts val="0"/>
              </a:spcAft>
              <a:buNone/>
            </a:pPr>
            <a:r>
              <a:rPr lang="en" sz="1800">
                <a:solidFill>
                  <a:schemeClr val="dk1"/>
                </a:solidFill>
              </a:rPr>
              <a:t> Queries google drive folder for files/shortcuts</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                       Processes &amp; streams files/shortcuts to S3</a:t>
            </a:r>
            <a:endParaRPr sz="1800">
              <a:solidFill>
                <a:schemeClr val="dk1"/>
              </a:solidFill>
            </a:endParaRPr>
          </a:p>
          <a:p>
            <a:pPr indent="0" lvl="0" marL="0" rtl="0" algn="l">
              <a:lnSpc>
                <a:spcPct val="115000"/>
              </a:lnSpc>
              <a:spcBef>
                <a:spcPts val="0"/>
              </a:spcBef>
              <a:spcAft>
                <a:spcPts val="0"/>
              </a:spcAft>
              <a:buNone/>
            </a:pPr>
            <a:r>
              <a:rPr lang="en" sz="1800">
                <a:solidFill>
                  <a:schemeClr val="dk1"/>
                </a:solidFill>
              </a:rPr>
              <a:t>                       Notifies user of status</a:t>
            </a:r>
            <a:endParaRPr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33"/>
          <p:cNvPicPr preferRelativeResize="0"/>
          <p:nvPr/>
        </p:nvPicPr>
        <p:blipFill>
          <a:blip r:embed="rId3">
            <a:alphaModFix/>
          </a:blip>
          <a:stretch>
            <a:fillRect/>
          </a:stretch>
        </p:blipFill>
        <p:spPr>
          <a:xfrm>
            <a:off x="3138650" y="105450"/>
            <a:ext cx="5717952" cy="4708476"/>
          </a:xfrm>
          <a:prstGeom prst="rect">
            <a:avLst/>
          </a:prstGeom>
          <a:noFill/>
          <a:ln>
            <a:noFill/>
          </a:ln>
        </p:spPr>
      </p:pic>
      <p:sp>
        <p:nvSpPr>
          <p:cNvPr id="178" name="Google Shape;178;p33"/>
          <p:cNvSpPr txBox="1"/>
          <p:nvPr/>
        </p:nvSpPr>
        <p:spPr>
          <a:xfrm>
            <a:off x="89900" y="1458150"/>
            <a:ext cx="300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Glue Job # 1 Script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Raw to refined layers</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nvSpPr>
        <p:spPr>
          <a:xfrm>
            <a:off x="409575" y="257175"/>
            <a:ext cx="7695300" cy="4329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Staffing metrics Question 2: Total hours worked by nurses per hospital, state, and month (Part 1)</a:t>
            </a:r>
            <a:endParaRPr sz="2000"/>
          </a:p>
          <a:p>
            <a:pPr indent="0" lvl="0" marL="0" rtl="0" algn="l">
              <a:lnSpc>
                <a:spcPct val="115000"/>
              </a:lnSpc>
              <a:spcBef>
                <a:spcPts val="0"/>
              </a:spcBef>
              <a:spcAft>
                <a:spcPts val="0"/>
              </a:spcAft>
              <a:buNone/>
            </a:pPr>
            <a:r>
              <a:t/>
            </a:r>
            <a:endParaRPr/>
          </a:p>
          <a:p>
            <a:pPr indent="457200" lvl="0" marL="0" rtl="0" algn="l">
              <a:lnSpc>
                <a:spcPct val="115000"/>
              </a:lnSpc>
              <a:spcBef>
                <a:spcPts val="0"/>
              </a:spcBef>
              <a:spcAft>
                <a:spcPts val="0"/>
              </a:spcAft>
              <a:buNone/>
            </a:pPr>
            <a:r>
              <a:rPr lang="en"/>
              <a:t>By month:</a:t>
            </a:r>
            <a:endParaRPr/>
          </a:p>
          <a:p>
            <a:pPr indent="0" lvl="0" marL="0" rtl="0" algn="l">
              <a:lnSpc>
                <a:spcPct val="115000"/>
              </a:lnSpc>
              <a:spcBef>
                <a:spcPts val="0"/>
              </a:spcBef>
              <a:spcAft>
                <a:spcPts val="0"/>
              </a:spcAft>
              <a:buNone/>
            </a:pPr>
            <a:r>
              <a:t/>
            </a:r>
            <a:endParaRPr/>
          </a:p>
          <a:p>
            <a:pPr indent="457200" lvl="0" marL="0" rtl="0" algn="l">
              <a:lnSpc>
                <a:spcPct val="115000"/>
              </a:lnSpc>
              <a:spcBef>
                <a:spcPts val="0"/>
              </a:spcBef>
              <a:spcAft>
                <a:spcPts val="0"/>
              </a:spcAft>
              <a:buNone/>
            </a:pPr>
            <a:r>
              <a:rPr lang="en"/>
              <a:t>It peaked in May 2024, yet was lower in April &amp; June of 2024</a:t>
            </a:r>
            <a:endParaRPr/>
          </a:p>
          <a:p>
            <a:pPr indent="0" lvl="0" marL="0" rtl="0" algn="l">
              <a:lnSpc>
                <a:spcPct val="115000"/>
              </a:lnSpc>
              <a:spcBef>
                <a:spcPts val="0"/>
              </a:spcBef>
              <a:spcAft>
                <a:spcPts val="0"/>
              </a:spcAft>
              <a:buNone/>
            </a:pPr>
            <a:r>
              <a:rPr lang="en"/>
              <a:t>		</a:t>
            </a:r>
            <a:r>
              <a:rPr lang="en" u="sng"/>
              <a:t>Month	Nurse Hours Worked</a:t>
            </a:r>
            <a:endParaRPr u="sng"/>
          </a:p>
          <a:p>
            <a:pPr indent="457200" lvl="0" marL="0" rtl="0" algn="l">
              <a:lnSpc>
                <a:spcPct val="115000"/>
              </a:lnSpc>
              <a:spcBef>
                <a:spcPts val="0"/>
              </a:spcBef>
              <a:spcAft>
                <a:spcPts val="0"/>
              </a:spcAft>
              <a:buNone/>
            </a:pPr>
            <a:r>
              <a:rPr lang="en"/>
              <a:t>	2024-04	119,635,201</a:t>
            </a:r>
            <a:endParaRPr/>
          </a:p>
          <a:p>
            <a:pPr indent="0" lvl="0" marL="0" rtl="0" algn="l">
              <a:lnSpc>
                <a:spcPct val="115000"/>
              </a:lnSpc>
              <a:spcBef>
                <a:spcPts val="0"/>
              </a:spcBef>
              <a:spcAft>
                <a:spcPts val="0"/>
              </a:spcAft>
              <a:buNone/>
            </a:pPr>
            <a:r>
              <a:rPr lang="en"/>
              <a:t>		2024-05	124,319,975</a:t>
            </a:r>
            <a:endParaRPr/>
          </a:p>
          <a:p>
            <a:pPr indent="457200" lvl="0" marL="0" rtl="0" algn="l">
              <a:lnSpc>
                <a:spcPct val="115000"/>
              </a:lnSpc>
              <a:spcBef>
                <a:spcPts val="0"/>
              </a:spcBef>
              <a:spcAft>
                <a:spcPts val="0"/>
              </a:spcAft>
              <a:buNone/>
            </a:pPr>
            <a:r>
              <a:rPr lang="en"/>
              <a:t>	2024-06	120,197,608</a:t>
            </a:r>
            <a:endParaRPr/>
          </a:p>
          <a:p>
            <a:pPr indent="0" lvl="0" marL="0" rtl="0" algn="l">
              <a:lnSpc>
                <a:spcPct val="115000"/>
              </a:lnSpc>
              <a:spcBef>
                <a:spcPts val="0"/>
              </a:spcBef>
              <a:spcAft>
                <a:spcPts val="0"/>
              </a:spcAft>
              <a:buNone/>
            </a:pPr>
            <a:r>
              <a:t/>
            </a:r>
            <a:endParaRPr/>
          </a:p>
          <a:p>
            <a:pPr indent="457200" lvl="0" marL="0" rtl="0" algn="l">
              <a:lnSpc>
                <a:spcPct val="115000"/>
              </a:lnSpc>
              <a:spcBef>
                <a:spcPts val="0"/>
              </a:spcBef>
              <a:spcAft>
                <a:spcPts val="0"/>
              </a:spcAft>
              <a:buNone/>
            </a:pPr>
            <a:r>
              <a:rPr lang="en"/>
              <a:t>B</a:t>
            </a:r>
            <a:r>
              <a:rPr lang="en"/>
              <a:t>y state: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It </a:t>
            </a:r>
            <a:r>
              <a:rPr lang="en"/>
              <a:t>widely varied; it was highest in CA &amp; NY at 35 &amp; 30 million; lowest in AK &amp; PR at 313   </a:t>
            </a:r>
            <a:endParaRPr/>
          </a:p>
          <a:p>
            <a:pPr indent="0" lvl="0" marL="0" rtl="0" algn="l">
              <a:lnSpc>
                <a:spcPct val="115000"/>
              </a:lnSpc>
              <a:spcBef>
                <a:spcPts val="0"/>
              </a:spcBef>
              <a:spcAft>
                <a:spcPts val="0"/>
              </a:spcAft>
              <a:buNone/>
            </a:pPr>
            <a:r>
              <a:rPr lang="en"/>
              <a:t>         </a:t>
            </a:r>
            <a:r>
              <a:rPr lang="en">
                <a:solidFill>
                  <a:schemeClr val="dk1"/>
                </a:solidFill>
              </a:rPr>
              <a:t>and 48 thousand.</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nvSpPr>
        <p:spPr>
          <a:xfrm>
            <a:off x="361950" y="333375"/>
            <a:ext cx="8258100" cy="450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t>Staffing metrics Question 2: Total hours worked by nurses per hospital, state, and month (Part 2)</a:t>
            </a:r>
            <a:endParaRPr sz="1800"/>
          </a:p>
          <a:p>
            <a:pPr indent="0" lvl="0" marL="0" rtl="0" algn="l">
              <a:lnSpc>
                <a:spcPct val="115000"/>
              </a:lnSpc>
              <a:spcBef>
                <a:spcPts val="0"/>
              </a:spcBef>
              <a:spcAft>
                <a:spcPts val="0"/>
              </a:spcAft>
              <a:buNone/>
            </a:pPr>
            <a:r>
              <a:t/>
            </a:r>
            <a:endParaRPr/>
          </a:p>
          <a:p>
            <a:pPr indent="457200" lvl="0" marL="0" rtl="0" algn="l">
              <a:lnSpc>
                <a:spcPct val="115000"/>
              </a:lnSpc>
              <a:spcBef>
                <a:spcPts val="0"/>
              </a:spcBef>
              <a:spcAft>
                <a:spcPts val="0"/>
              </a:spcAft>
              <a:buNone/>
            </a:pPr>
            <a:r>
              <a:rPr lang="en"/>
              <a:t>By facility:</a:t>
            </a:r>
            <a:endParaRPr/>
          </a:p>
          <a:p>
            <a:pPr indent="0" lvl="0" marL="0" rtl="0" algn="l">
              <a:lnSpc>
                <a:spcPct val="115000"/>
              </a:lnSpc>
              <a:spcBef>
                <a:spcPts val="0"/>
              </a:spcBef>
              <a:spcAft>
                <a:spcPts val="0"/>
              </a:spcAft>
              <a:buNone/>
            </a:pPr>
            <a:r>
              <a:t/>
            </a:r>
            <a:endParaRPr/>
          </a:p>
          <a:p>
            <a:pPr indent="457200" lvl="0" marL="0" rtl="0" algn="l">
              <a:lnSpc>
                <a:spcPct val="115000"/>
              </a:lnSpc>
              <a:spcBef>
                <a:spcPts val="0"/>
              </a:spcBef>
              <a:spcAft>
                <a:spcPts val="0"/>
              </a:spcAft>
              <a:buNone/>
            </a:pPr>
            <a:r>
              <a:rPr lang="en"/>
              <a:t>top 2:</a:t>
            </a:r>
            <a:endParaRPr/>
          </a:p>
          <a:p>
            <a:pPr indent="0" lvl="0" marL="0" rtl="0" algn="l">
              <a:lnSpc>
                <a:spcPct val="115000"/>
              </a:lnSpc>
              <a:spcBef>
                <a:spcPts val="0"/>
              </a:spcBef>
              <a:spcAft>
                <a:spcPts val="0"/>
              </a:spcAft>
              <a:buNone/>
            </a:pPr>
            <a:r>
              <a:rPr lang="en"/>
              <a:t>		Provider Name						State		Nurse Hours Worked	</a:t>
            </a:r>
            <a:endParaRPr/>
          </a:p>
          <a:p>
            <a:pPr indent="0" lvl="0" marL="0" rtl="0" algn="l">
              <a:lnSpc>
                <a:spcPct val="115000"/>
              </a:lnSpc>
              <a:spcBef>
                <a:spcPts val="0"/>
              </a:spcBef>
              <a:spcAft>
                <a:spcPts val="0"/>
              </a:spcAft>
              <a:buNone/>
            </a:pPr>
            <a:r>
              <a:t/>
            </a:r>
            <a:endParaRPr/>
          </a:p>
          <a:p>
            <a:pPr indent="457200" lvl="0" marL="0" rtl="0" algn="l">
              <a:lnSpc>
                <a:spcPct val="115000"/>
              </a:lnSpc>
              <a:spcBef>
                <a:spcPts val="0"/>
              </a:spcBef>
              <a:spcAft>
                <a:spcPts val="0"/>
              </a:spcAft>
              <a:buNone/>
            </a:pPr>
            <a:r>
              <a:rPr lang="en"/>
              <a:t>	MILLER'S MERRY MANOR				IN		220,850</a:t>
            </a:r>
            <a:endParaRPr/>
          </a:p>
          <a:p>
            <a:pPr indent="0" lvl="0" marL="0" rtl="0" algn="l">
              <a:lnSpc>
                <a:spcPct val="115000"/>
              </a:lnSpc>
              <a:spcBef>
                <a:spcPts val="0"/>
              </a:spcBef>
              <a:spcAft>
                <a:spcPts val="0"/>
              </a:spcAft>
              <a:buNone/>
            </a:pPr>
            <a:r>
              <a:rPr lang="en"/>
              <a:t>		ISABELLA GERIATRIC CENTER INC		NY		199,145</a:t>
            </a:r>
            <a:endParaRPr/>
          </a:p>
          <a:p>
            <a:pPr indent="0" lvl="0" marL="0" rtl="0" algn="l">
              <a:lnSpc>
                <a:spcPct val="115000"/>
              </a:lnSpc>
              <a:spcBef>
                <a:spcPts val="0"/>
              </a:spcBef>
              <a:spcAft>
                <a:spcPts val="0"/>
              </a:spcAft>
              <a:buNone/>
            </a:pPr>
            <a:r>
              <a:t/>
            </a:r>
            <a:endParaRPr/>
          </a:p>
          <a:p>
            <a:pPr indent="457200" lvl="0" marL="0" rtl="0" algn="l">
              <a:lnSpc>
                <a:spcPct val="115000"/>
              </a:lnSpc>
              <a:spcBef>
                <a:spcPts val="0"/>
              </a:spcBef>
              <a:spcAft>
                <a:spcPts val="0"/>
              </a:spcAft>
              <a:buNone/>
            </a:pPr>
            <a:r>
              <a:rPr lang="en"/>
              <a:t>bottom 2:</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Provider Name						State		Nurse Hours Worked</a:t>
            </a:r>
            <a:endParaRPr/>
          </a:p>
          <a:p>
            <a:pPr indent="0" lvl="0" marL="0" rtl="0" algn="l">
              <a:lnSpc>
                <a:spcPct val="115000"/>
              </a:lnSpc>
              <a:spcBef>
                <a:spcPts val="0"/>
              </a:spcBef>
              <a:spcAft>
                <a:spcPts val="0"/>
              </a:spcAft>
              <a:buNone/>
            </a:pPr>
            <a:r>
              <a:t/>
            </a:r>
            <a:endParaRPr/>
          </a:p>
          <a:p>
            <a:pPr indent="457200" lvl="0" marL="0" rtl="0" algn="l">
              <a:lnSpc>
                <a:spcPct val="115000"/>
              </a:lnSpc>
              <a:spcBef>
                <a:spcPts val="0"/>
              </a:spcBef>
              <a:spcAft>
                <a:spcPts val="0"/>
              </a:spcAft>
              <a:buNone/>
            </a:pPr>
            <a:r>
              <a:rPr lang="en"/>
              <a:t>	ST CATHERINE OF SIENA				NJ		0</a:t>
            </a:r>
            <a:endParaRPr/>
          </a:p>
          <a:p>
            <a:pPr indent="0" lvl="0" marL="0" rtl="0" algn="l">
              <a:lnSpc>
                <a:spcPct val="115000"/>
              </a:lnSpc>
              <a:spcBef>
                <a:spcPts val="0"/>
              </a:spcBef>
              <a:spcAft>
                <a:spcPts val="0"/>
              </a:spcAft>
              <a:buNone/>
            </a:pPr>
            <a:r>
              <a:rPr lang="en"/>
              <a:t>		WHITE RIVER HEALTHCARE			AR		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6"/>
          <p:cNvSpPr txBox="1"/>
          <p:nvPr/>
        </p:nvSpPr>
        <p:spPr>
          <a:xfrm>
            <a:off x="247500" y="76200"/>
            <a:ext cx="8896500" cy="1249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Arriving at answer to staffing metric # 2 (Part 1):</a:t>
            </a:r>
            <a:endParaRPr sz="20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For </a:t>
            </a:r>
            <a:r>
              <a:rPr lang="en">
                <a:solidFill>
                  <a:srgbClr val="0000FF"/>
                </a:solidFill>
              </a:rPr>
              <a:t>total nurse hours per month</a:t>
            </a:r>
            <a:r>
              <a:rPr lang="en"/>
              <a:t>,  total nurse hours were calculated when transferring data from refined to curated during the AWS Glue Job.  Then in streamlit, hours were summed and grouped for each month.</a:t>
            </a:r>
            <a:endParaRPr/>
          </a:p>
        </p:txBody>
      </p:sp>
      <p:pic>
        <p:nvPicPr>
          <p:cNvPr id="194" name="Google Shape;194;p36"/>
          <p:cNvPicPr preferRelativeResize="0"/>
          <p:nvPr/>
        </p:nvPicPr>
        <p:blipFill>
          <a:blip r:embed="rId3">
            <a:alphaModFix/>
          </a:blip>
          <a:stretch>
            <a:fillRect/>
          </a:stretch>
        </p:blipFill>
        <p:spPr>
          <a:xfrm>
            <a:off x="740613" y="1383150"/>
            <a:ext cx="7662787" cy="3588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7"/>
          <p:cNvSpPr txBox="1"/>
          <p:nvPr/>
        </p:nvSpPr>
        <p:spPr>
          <a:xfrm>
            <a:off x="381000" y="361950"/>
            <a:ext cx="8648700" cy="1356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Arriving at answer to staffing metric # 2 (Part 2):</a:t>
            </a:r>
            <a:endParaRPr sz="2000"/>
          </a:p>
          <a:p>
            <a:pPr indent="0" lvl="0" marL="0" rtl="0" algn="ctr">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en"/>
              <a:t>For </a:t>
            </a:r>
            <a:r>
              <a:rPr lang="en">
                <a:solidFill>
                  <a:srgbClr val="0000FF"/>
                </a:solidFill>
              </a:rPr>
              <a:t>total nurse hours per state</a:t>
            </a:r>
            <a:r>
              <a:rPr lang="en"/>
              <a:t>, total nurse hours were grouped and summed by cms_certification_number.  Then they were grouped and summed again by state and populated into a different dataframe.</a:t>
            </a:r>
            <a:endParaRPr/>
          </a:p>
        </p:txBody>
      </p:sp>
      <p:sp>
        <p:nvSpPr>
          <p:cNvPr id="200" name="Google Shape;200;p37"/>
          <p:cNvSpPr txBox="1"/>
          <p:nvPr/>
        </p:nvSpPr>
        <p:spPr>
          <a:xfrm>
            <a:off x="304800" y="1857375"/>
            <a:ext cx="3695700" cy="313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t>monthly_nurse_hours = (</a:t>
            </a:r>
            <a:endParaRPr sz="1200"/>
          </a:p>
          <a:p>
            <a:pPr indent="0" lvl="0" marL="0" rtl="0" algn="l">
              <a:lnSpc>
                <a:spcPct val="115000"/>
              </a:lnSpc>
              <a:spcBef>
                <a:spcPts val="0"/>
              </a:spcBef>
              <a:spcAft>
                <a:spcPts val="0"/>
              </a:spcAft>
              <a:buNone/>
            </a:pPr>
            <a:r>
              <a:rPr lang="en" sz="1200"/>
              <a:t>    pbj_df</a:t>
            </a:r>
            <a:endParaRPr sz="1200"/>
          </a:p>
          <a:p>
            <a:pPr indent="0" lvl="0" marL="0" rtl="0" algn="l">
              <a:lnSpc>
                <a:spcPct val="115000"/>
              </a:lnSpc>
              <a:spcBef>
                <a:spcPts val="0"/>
              </a:spcBef>
              <a:spcAft>
                <a:spcPts val="0"/>
              </a:spcAft>
              <a:buNone/>
            </a:pPr>
            <a:r>
              <a:rPr lang="en" sz="1200"/>
              <a:t>    .groupby(</a:t>
            </a:r>
            <a:endParaRPr sz="1200"/>
          </a:p>
          <a:p>
            <a:pPr indent="0" lvl="0" marL="0" rtl="0" algn="l">
              <a:lnSpc>
                <a:spcPct val="115000"/>
              </a:lnSpc>
              <a:spcBef>
                <a:spcPts val="0"/>
              </a:spcBef>
              <a:spcAft>
                <a:spcPts val="0"/>
              </a:spcAft>
              <a:buNone/>
            </a:pPr>
            <a:r>
              <a:rPr lang="en" sz="1200"/>
              <a:t>        [</a:t>
            </a:r>
            <a:endParaRPr sz="1200"/>
          </a:p>
          <a:p>
            <a:pPr indent="0" lvl="0" marL="0" rtl="0" algn="l">
              <a:lnSpc>
                <a:spcPct val="115000"/>
              </a:lnSpc>
              <a:spcBef>
                <a:spcPts val="0"/>
              </a:spcBef>
              <a:spcAft>
                <a:spcPts val="0"/>
              </a:spcAft>
              <a:buNone/>
            </a:pPr>
            <a:r>
              <a:rPr lang="en" sz="1200"/>
              <a:t>            "cms_certification_number_ccn",</a:t>
            </a:r>
            <a:endParaRPr sz="1200"/>
          </a:p>
          <a:p>
            <a:pPr indent="0" lvl="0" marL="0" rtl="0" algn="l">
              <a:lnSpc>
                <a:spcPct val="115000"/>
              </a:lnSpc>
              <a:spcBef>
                <a:spcPts val="0"/>
              </a:spcBef>
              <a:spcAft>
                <a:spcPts val="0"/>
              </a:spcAft>
              <a:buNone/>
            </a:pPr>
            <a:r>
              <a:rPr lang="en" sz="1200"/>
              <a:t>            "provider_name",</a:t>
            </a:r>
            <a:endParaRPr sz="1200"/>
          </a:p>
          <a:p>
            <a:pPr indent="0" lvl="0" marL="0" rtl="0" algn="l">
              <a:lnSpc>
                <a:spcPct val="115000"/>
              </a:lnSpc>
              <a:spcBef>
                <a:spcPts val="0"/>
              </a:spcBef>
              <a:spcAft>
                <a:spcPts val="0"/>
              </a:spcAft>
              <a:buNone/>
            </a:pPr>
            <a:r>
              <a:rPr lang="en" sz="1200"/>
              <a:t>            "state",</a:t>
            </a:r>
            <a:endParaRPr sz="1200"/>
          </a:p>
          <a:p>
            <a:pPr indent="0" lvl="0" marL="0" rtl="0" algn="l">
              <a:lnSpc>
                <a:spcPct val="115000"/>
              </a:lnSpc>
              <a:spcBef>
                <a:spcPts val="0"/>
              </a:spcBef>
              <a:spcAft>
                <a:spcPts val="0"/>
              </a:spcAft>
              <a:buNone/>
            </a:pPr>
            <a:r>
              <a:rPr lang="en" sz="1200"/>
              <a:t>            "month"</a:t>
            </a:r>
            <a:endParaRPr sz="1200"/>
          </a:p>
          <a:p>
            <a:pPr indent="0" lvl="0" marL="0" rtl="0" algn="l">
              <a:lnSpc>
                <a:spcPct val="115000"/>
              </a:lnSpc>
              <a:spcBef>
                <a:spcPts val="0"/>
              </a:spcBef>
              <a:spcAft>
                <a:spcPts val="0"/>
              </a:spcAft>
              <a:buNone/>
            </a:pPr>
            <a:r>
              <a:rPr lang="en" sz="1200"/>
              <a:t>        ]</a:t>
            </a:r>
            <a:endParaRPr sz="1200"/>
          </a:p>
          <a:p>
            <a:pPr indent="0" lvl="0" marL="0" rtl="0" algn="l">
              <a:lnSpc>
                <a:spcPct val="115000"/>
              </a:lnSpc>
              <a:spcBef>
                <a:spcPts val="0"/>
              </a:spcBef>
              <a:spcAft>
                <a:spcPts val="0"/>
              </a:spcAft>
              <a:buNone/>
            </a:pPr>
            <a:r>
              <a:rPr lang="en" sz="1200"/>
              <a:t>    )["Total_Nurse_Hrs"]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    .sum()</a:t>
            </a:r>
            <a:endParaRPr sz="1200"/>
          </a:p>
          <a:p>
            <a:pPr indent="0" lvl="0" marL="0" rtl="0" algn="l">
              <a:lnSpc>
                <a:spcPct val="115000"/>
              </a:lnSpc>
              <a:spcBef>
                <a:spcPts val="0"/>
              </a:spcBef>
              <a:spcAft>
                <a:spcPts val="0"/>
              </a:spcAft>
              <a:buNone/>
            </a:pPr>
            <a:r>
              <a:rPr lang="en" sz="1200"/>
              <a:t>    .reset_index()</a:t>
            </a:r>
            <a:endParaRPr sz="1200"/>
          </a:p>
          <a:p>
            <a:pPr indent="0" lvl="0" marL="0" rtl="0" algn="l">
              <a:lnSpc>
                <a:spcPct val="115000"/>
              </a:lnSpc>
              <a:spcBef>
                <a:spcPts val="0"/>
              </a:spcBef>
              <a:spcAft>
                <a:spcPts val="0"/>
              </a:spcAft>
              <a:buNone/>
            </a:pPr>
            <a:r>
              <a:rPr lang="en" sz="1200"/>
              <a:t>)</a:t>
            </a:r>
            <a:endParaRPr sz="1200"/>
          </a:p>
        </p:txBody>
      </p:sp>
      <p:sp>
        <p:nvSpPr>
          <p:cNvPr id="201" name="Google Shape;201;p37"/>
          <p:cNvSpPr txBox="1"/>
          <p:nvPr/>
        </p:nvSpPr>
        <p:spPr>
          <a:xfrm>
            <a:off x="4476750" y="1952625"/>
            <a:ext cx="3000000" cy="26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nurse_hours_state = (</a:t>
            </a:r>
            <a:endParaRPr/>
          </a:p>
          <a:p>
            <a:pPr indent="0" lvl="0" marL="0" rtl="0" algn="l">
              <a:lnSpc>
                <a:spcPct val="115000"/>
              </a:lnSpc>
              <a:spcBef>
                <a:spcPts val="0"/>
              </a:spcBef>
              <a:spcAft>
                <a:spcPts val="0"/>
              </a:spcAft>
              <a:buNone/>
            </a:pPr>
            <a:r>
              <a:rPr lang="en"/>
              <a:t>    monthly_nurse_hours</a:t>
            </a:r>
            <a:endParaRPr/>
          </a:p>
          <a:p>
            <a:pPr indent="0" lvl="0" marL="0" rtl="0" algn="l">
              <a:lnSpc>
                <a:spcPct val="115000"/>
              </a:lnSpc>
              <a:spcBef>
                <a:spcPts val="0"/>
              </a:spcBef>
              <a:spcAft>
                <a:spcPts val="0"/>
              </a:spcAft>
              <a:buNone/>
            </a:pPr>
            <a:r>
              <a:rPr lang="en"/>
              <a:t>    .groupby("state")["Total_Nurse_Hrs"]</a:t>
            </a:r>
            <a:endParaRPr/>
          </a:p>
          <a:p>
            <a:pPr indent="0" lvl="0" marL="0" rtl="0" algn="l">
              <a:lnSpc>
                <a:spcPct val="115000"/>
              </a:lnSpc>
              <a:spcBef>
                <a:spcPts val="0"/>
              </a:spcBef>
              <a:spcAft>
                <a:spcPts val="0"/>
              </a:spcAft>
              <a:buNone/>
            </a:pPr>
            <a:r>
              <a:rPr lang="en"/>
              <a:t>    .sum()</a:t>
            </a:r>
            <a:endParaRPr/>
          </a:p>
          <a:p>
            <a:pPr indent="0" lvl="0" marL="0" rtl="0" algn="l">
              <a:lnSpc>
                <a:spcPct val="115000"/>
              </a:lnSpc>
              <a:spcBef>
                <a:spcPts val="0"/>
              </a:spcBef>
              <a:spcAft>
                <a:spcPts val="0"/>
              </a:spcAft>
              <a:buNone/>
            </a:pPr>
            <a:r>
              <a:rPr lang="en"/>
              <a:t>    .reset_index()</a:t>
            </a:r>
            <a:endParaRPr/>
          </a:p>
          <a:p>
            <a:pPr indent="0" lvl="0" marL="0" rtl="0" algn="l">
              <a:lnSpc>
                <a:spcPct val="115000"/>
              </a:lnSpc>
              <a:spcBef>
                <a:spcPts val="0"/>
              </a:spcBef>
              <a:spcAft>
                <a:spcPts val="0"/>
              </a:spcAft>
              <a:buNone/>
            </a:pPr>
            <a:r>
              <a:rPr lang="en"/>
              <a:t>    .sort_values("Total_Nurse_Hrs", ascending=True)</a:t>
            </a:r>
            <a:endParaRPr/>
          </a:p>
          <a:p>
            <a:pPr indent="0" lvl="0" marL="0" rtl="0" algn="l">
              <a:lnSpc>
                <a:spcPct val="115000"/>
              </a:lnSpc>
              <a:spcBef>
                <a:spcPts val="0"/>
              </a:spcBef>
              <a:spcAft>
                <a:spcPts val="0"/>
              </a:spcAft>
              <a:buNone/>
            </a:pPr>
            <a:r>
              <a:rPr lang="en"/>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nvSpPr>
        <p:spPr>
          <a:xfrm>
            <a:off x="1143000" y="752475"/>
            <a:ext cx="6743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t>Arriving at answer to staffing metric # 2 (Part 3):</a:t>
            </a:r>
            <a:endParaRPr sz="2400"/>
          </a:p>
        </p:txBody>
      </p:sp>
      <p:sp>
        <p:nvSpPr>
          <p:cNvPr id="207" name="Google Shape;207;p38"/>
          <p:cNvSpPr txBox="1"/>
          <p:nvPr/>
        </p:nvSpPr>
        <p:spPr>
          <a:xfrm>
            <a:off x="466725" y="200025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For </a:t>
            </a:r>
            <a:r>
              <a:rPr lang="en">
                <a:solidFill>
                  <a:srgbClr val="0000FF"/>
                </a:solidFill>
              </a:rPr>
              <a:t>total nurse hours per provider</a:t>
            </a:r>
            <a:r>
              <a:rPr lang="en"/>
              <a:t>, it's the same process as determining total nurse hours per state.  Only the grouping is done by provider instead of by state.</a:t>
            </a:r>
            <a:endParaRPr/>
          </a:p>
        </p:txBody>
      </p:sp>
      <p:sp>
        <p:nvSpPr>
          <p:cNvPr id="208" name="Google Shape;208;p38"/>
          <p:cNvSpPr txBox="1"/>
          <p:nvPr/>
        </p:nvSpPr>
        <p:spPr>
          <a:xfrm>
            <a:off x="4343400" y="1514475"/>
            <a:ext cx="3000000" cy="26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nurse_hours_provider = (</a:t>
            </a:r>
            <a:endParaRPr/>
          </a:p>
          <a:p>
            <a:pPr indent="0" lvl="0" marL="0" rtl="0" algn="l">
              <a:lnSpc>
                <a:spcPct val="115000"/>
              </a:lnSpc>
              <a:spcBef>
                <a:spcPts val="0"/>
              </a:spcBef>
              <a:spcAft>
                <a:spcPts val="0"/>
              </a:spcAft>
              <a:buNone/>
            </a:pPr>
            <a:r>
              <a:rPr lang="en"/>
              <a:t>    monthly_nurse_hours</a:t>
            </a:r>
            <a:endParaRPr/>
          </a:p>
          <a:p>
            <a:pPr indent="0" lvl="0" marL="0" rtl="0" algn="l">
              <a:lnSpc>
                <a:spcPct val="115000"/>
              </a:lnSpc>
              <a:spcBef>
                <a:spcPts val="0"/>
              </a:spcBef>
              <a:spcAft>
                <a:spcPts val="0"/>
              </a:spcAft>
              <a:buNone/>
            </a:pPr>
            <a:r>
              <a:rPr lang="en"/>
              <a:t>    .groupby(</a:t>
            </a:r>
            <a:endParaRPr/>
          </a:p>
          <a:p>
            <a:pPr indent="0" lvl="0" marL="0" rtl="0" algn="l">
              <a:lnSpc>
                <a:spcPct val="115000"/>
              </a:lnSpc>
              <a:spcBef>
                <a:spcPts val="0"/>
              </a:spcBef>
              <a:spcAft>
                <a:spcPts val="0"/>
              </a:spcAft>
              <a:buNone/>
            </a:pPr>
            <a:r>
              <a:rPr lang="en"/>
              <a:t>        ["provider_name", "state"</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    )["Total_Nurse_Hrs"]</a:t>
            </a:r>
            <a:endParaRPr/>
          </a:p>
          <a:p>
            <a:pPr indent="0" lvl="0" marL="0" rtl="0" algn="l">
              <a:lnSpc>
                <a:spcPct val="115000"/>
              </a:lnSpc>
              <a:spcBef>
                <a:spcPts val="0"/>
              </a:spcBef>
              <a:spcAft>
                <a:spcPts val="0"/>
              </a:spcAft>
              <a:buNone/>
            </a:pPr>
            <a:r>
              <a:rPr lang="en"/>
              <a:t>    .sum()</a:t>
            </a:r>
            <a:endParaRPr/>
          </a:p>
          <a:p>
            <a:pPr indent="0" lvl="0" marL="0" rtl="0" algn="l">
              <a:lnSpc>
                <a:spcPct val="115000"/>
              </a:lnSpc>
              <a:spcBef>
                <a:spcPts val="0"/>
              </a:spcBef>
              <a:spcAft>
                <a:spcPts val="0"/>
              </a:spcAft>
              <a:buNone/>
            </a:pPr>
            <a:r>
              <a:rPr lang="en"/>
              <a:t>    .reset_index()</a:t>
            </a:r>
            <a:endParaRPr/>
          </a:p>
          <a:p>
            <a:pPr indent="0" lvl="0" marL="0" rtl="0" algn="l">
              <a:lnSpc>
                <a:spcPct val="115000"/>
              </a:lnSpc>
              <a:spcBef>
                <a:spcPts val="0"/>
              </a:spcBef>
              <a:spcAft>
                <a:spcPts val="0"/>
              </a:spcAft>
              <a:buNone/>
            </a:pPr>
            <a:r>
              <a:rPr lang="en"/>
              <a:t>    .sort_values("Total_Nurse_Hrs", ascending=False)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nvSpPr>
        <p:spPr>
          <a:xfrm>
            <a:off x="384850" y="1260375"/>
            <a:ext cx="3492600" cy="337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monthly_nurse_hours = (</a:t>
            </a:r>
            <a:endParaRPr/>
          </a:p>
          <a:p>
            <a:pPr indent="0" lvl="0" marL="0" rtl="0" algn="l">
              <a:lnSpc>
                <a:spcPct val="115000"/>
              </a:lnSpc>
              <a:spcBef>
                <a:spcPts val="0"/>
              </a:spcBef>
              <a:spcAft>
                <a:spcPts val="0"/>
              </a:spcAft>
              <a:buNone/>
            </a:pPr>
            <a:r>
              <a:rPr lang="en"/>
              <a:t>    pbj_df</a:t>
            </a:r>
            <a:endParaRPr/>
          </a:p>
          <a:p>
            <a:pPr indent="0" lvl="0" marL="0" rtl="0" algn="l">
              <a:lnSpc>
                <a:spcPct val="115000"/>
              </a:lnSpc>
              <a:spcBef>
                <a:spcPts val="0"/>
              </a:spcBef>
              <a:spcAft>
                <a:spcPts val="0"/>
              </a:spcAft>
              <a:buNone/>
            </a:pPr>
            <a:r>
              <a:rPr lang="en"/>
              <a:t>    .groupby(</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            "cms_certification_number_ccn",</a:t>
            </a:r>
            <a:endParaRPr/>
          </a:p>
          <a:p>
            <a:pPr indent="0" lvl="0" marL="0" rtl="0" algn="l">
              <a:lnSpc>
                <a:spcPct val="115000"/>
              </a:lnSpc>
              <a:spcBef>
                <a:spcPts val="0"/>
              </a:spcBef>
              <a:spcAft>
                <a:spcPts val="0"/>
              </a:spcAft>
              <a:buNone/>
            </a:pPr>
            <a:r>
              <a:rPr lang="en"/>
              <a:t>            "provider_name",</a:t>
            </a:r>
            <a:endParaRPr/>
          </a:p>
          <a:p>
            <a:pPr indent="0" lvl="0" marL="0" rtl="0" algn="l">
              <a:lnSpc>
                <a:spcPct val="115000"/>
              </a:lnSpc>
              <a:spcBef>
                <a:spcPts val="0"/>
              </a:spcBef>
              <a:spcAft>
                <a:spcPts val="0"/>
              </a:spcAft>
              <a:buNone/>
            </a:pPr>
            <a:r>
              <a:rPr lang="en"/>
              <a:t>            "state",</a:t>
            </a:r>
            <a:endParaRPr/>
          </a:p>
          <a:p>
            <a:pPr indent="0" lvl="0" marL="0" rtl="0" algn="l">
              <a:lnSpc>
                <a:spcPct val="115000"/>
              </a:lnSpc>
              <a:spcBef>
                <a:spcPts val="0"/>
              </a:spcBef>
              <a:spcAft>
                <a:spcPts val="0"/>
              </a:spcAft>
              <a:buNone/>
            </a:pPr>
            <a:r>
              <a:rPr lang="en"/>
              <a:t>            "month"</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    )["Total_Nurse_Hrs"]</a:t>
            </a:r>
            <a:endParaRPr/>
          </a:p>
          <a:p>
            <a:pPr indent="0" lvl="0" marL="0" rtl="0" algn="l">
              <a:lnSpc>
                <a:spcPct val="115000"/>
              </a:lnSpc>
              <a:spcBef>
                <a:spcPts val="0"/>
              </a:spcBef>
              <a:spcAft>
                <a:spcPts val="0"/>
              </a:spcAft>
              <a:buNone/>
            </a:pPr>
            <a:r>
              <a:rPr lang="en"/>
              <a:t>    .sum()</a:t>
            </a:r>
            <a:endParaRPr/>
          </a:p>
          <a:p>
            <a:pPr indent="0" lvl="0" marL="0" rtl="0" algn="l">
              <a:lnSpc>
                <a:spcPct val="115000"/>
              </a:lnSpc>
              <a:spcBef>
                <a:spcPts val="0"/>
              </a:spcBef>
              <a:spcAft>
                <a:spcPts val="0"/>
              </a:spcAft>
              <a:buNone/>
            </a:pPr>
            <a:r>
              <a:rPr lang="en"/>
              <a:t>    .reset_index()</a:t>
            </a:r>
            <a:endParaRPr/>
          </a:p>
          <a:p>
            <a:pPr indent="0" lvl="0" marL="0" rtl="0" algn="l">
              <a:lnSpc>
                <a:spcPct val="115000"/>
              </a:lnSpc>
              <a:spcBef>
                <a:spcPts val="0"/>
              </a:spcBef>
              <a:spcAft>
                <a:spcPts val="0"/>
              </a:spcAft>
              <a:buNone/>
            </a:pPr>
            <a:r>
              <a:rPr lang="en"/>
              <a:t>)</a:t>
            </a:r>
            <a:endParaRPr/>
          </a:p>
        </p:txBody>
      </p:sp>
      <p:sp>
        <p:nvSpPr>
          <p:cNvPr id="214" name="Google Shape;214;p39"/>
          <p:cNvSpPr txBox="1"/>
          <p:nvPr/>
        </p:nvSpPr>
        <p:spPr>
          <a:xfrm>
            <a:off x="4752875" y="1260379"/>
            <a:ext cx="3000000" cy="23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rPr>
              <a:t>monthly_totals = (</a:t>
            </a:r>
            <a:endParaRPr>
              <a:solidFill>
                <a:schemeClr val="dk1"/>
              </a:solidFill>
            </a:endParaRPr>
          </a:p>
          <a:p>
            <a:pPr indent="0" lvl="0" marL="0" rtl="0" algn="l">
              <a:lnSpc>
                <a:spcPct val="115000"/>
              </a:lnSpc>
              <a:spcBef>
                <a:spcPts val="0"/>
              </a:spcBef>
              <a:spcAft>
                <a:spcPts val="0"/>
              </a:spcAft>
              <a:buNone/>
            </a:pPr>
            <a:r>
              <a:rPr lang="en">
                <a:solidFill>
                  <a:schemeClr val="dk1"/>
                </a:solidFill>
              </a:rPr>
              <a:t>    monthly_nurse_hours</a:t>
            </a:r>
            <a:endParaRPr>
              <a:solidFill>
                <a:schemeClr val="dk1"/>
              </a:solidFill>
            </a:endParaRPr>
          </a:p>
          <a:p>
            <a:pPr indent="0" lvl="0" marL="0" rtl="0" algn="l">
              <a:lnSpc>
                <a:spcPct val="115000"/>
              </a:lnSpc>
              <a:spcBef>
                <a:spcPts val="0"/>
              </a:spcBef>
              <a:spcAft>
                <a:spcPts val="0"/>
              </a:spcAft>
              <a:buNone/>
            </a:pPr>
            <a:r>
              <a:rPr lang="en">
                <a:solidFill>
                  <a:schemeClr val="dk1"/>
                </a:solidFill>
              </a:rPr>
              <a:t>    .groupby("month")["Total_Nurse_Hrs"]</a:t>
            </a:r>
            <a:endParaRPr>
              <a:solidFill>
                <a:schemeClr val="dk1"/>
              </a:solidFill>
            </a:endParaRPr>
          </a:p>
          <a:p>
            <a:pPr indent="0" lvl="0" marL="0" rtl="0" algn="l">
              <a:lnSpc>
                <a:spcPct val="115000"/>
              </a:lnSpc>
              <a:spcBef>
                <a:spcPts val="0"/>
              </a:spcBef>
              <a:spcAft>
                <a:spcPts val="0"/>
              </a:spcAft>
              <a:buNone/>
            </a:pPr>
            <a:r>
              <a:rPr lang="en">
                <a:solidFill>
                  <a:schemeClr val="dk1"/>
                </a:solidFill>
              </a:rPr>
              <a:t>    .sum()</a:t>
            </a:r>
            <a:endParaRPr>
              <a:solidFill>
                <a:schemeClr val="dk1"/>
              </a:solidFill>
            </a:endParaRPr>
          </a:p>
          <a:p>
            <a:pPr indent="0" lvl="0" marL="0" rtl="0" algn="l">
              <a:lnSpc>
                <a:spcPct val="115000"/>
              </a:lnSpc>
              <a:spcBef>
                <a:spcPts val="0"/>
              </a:spcBef>
              <a:spcAft>
                <a:spcPts val="0"/>
              </a:spcAft>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rPr lang="en">
                <a:solidFill>
                  <a:schemeClr val="dk1"/>
                </a:solidFill>
              </a:rPr>
              <a:t>st.subheader("Total Nurse Hours by Month")</a:t>
            </a:r>
            <a:endParaRPr/>
          </a:p>
        </p:txBody>
      </p:sp>
      <p:sp>
        <p:nvSpPr>
          <p:cNvPr id="215" name="Google Shape;215;p39"/>
          <p:cNvSpPr txBox="1"/>
          <p:nvPr/>
        </p:nvSpPr>
        <p:spPr>
          <a:xfrm>
            <a:off x="1683725" y="375225"/>
            <a:ext cx="5243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Chart creation for total nurse hours by month</a:t>
            </a:r>
            <a:endParaRPr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nvSpPr>
        <p:spPr>
          <a:xfrm>
            <a:off x="2855975" y="353525"/>
            <a:ext cx="422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Total Nurse Hours by Month Chart</a:t>
            </a:r>
            <a:endParaRPr sz="2000"/>
          </a:p>
        </p:txBody>
      </p:sp>
      <p:pic>
        <p:nvPicPr>
          <p:cNvPr id="221" name="Google Shape;221;p40"/>
          <p:cNvPicPr preferRelativeResize="0"/>
          <p:nvPr/>
        </p:nvPicPr>
        <p:blipFill>
          <a:blip r:embed="rId3">
            <a:alphaModFix/>
          </a:blip>
          <a:stretch>
            <a:fillRect/>
          </a:stretch>
        </p:blipFill>
        <p:spPr>
          <a:xfrm>
            <a:off x="1291450" y="949425"/>
            <a:ext cx="6996338" cy="39925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nvSpPr>
        <p:spPr>
          <a:xfrm>
            <a:off x="1325650" y="255325"/>
            <a:ext cx="6588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t>SQL solution for finding total nurse hours by month</a:t>
            </a:r>
            <a:endParaRPr sz="2200"/>
          </a:p>
        </p:txBody>
      </p:sp>
      <p:sp>
        <p:nvSpPr>
          <p:cNvPr id="227" name="Google Shape;227;p41"/>
          <p:cNvSpPr txBox="1"/>
          <p:nvPr/>
        </p:nvSpPr>
        <p:spPr>
          <a:xfrm>
            <a:off x="461525" y="913250"/>
            <a:ext cx="4291200" cy="436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facility level monthly hours: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WITH </a:t>
            </a:r>
            <a:r>
              <a:rPr lang="en">
                <a:solidFill>
                  <a:srgbClr val="0000FF"/>
                </a:solidFill>
              </a:rPr>
              <a:t>monthly_nurse_hours</a:t>
            </a:r>
            <a:r>
              <a:rPr lang="en"/>
              <a:t> AS (</a:t>
            </a:r>
            <a:endParaRPr/>
          </a:p>
          <a:p>
            <a:pPr indent="0" lvl="0" marL="0" rtl="0" algn="l">
              <a:lnSpc>
                <a:spcPct val="115000"/>
              </a:lnSpc>
              <a:spcBef>
                <a:spcPts val="0"/>
              </a:spcBef>
              <a:spcAft>
                <a:spcPts val="0"/>
              </a:spcAft>
              <a:buNone/>
            </a:pPr>
            <a:r>
              <a:rPr lang="en"/>
              <a:t>    SELECT</a:t>
            </a:r>
            <a:endParaRPr/>
          </a:p>
          <a:p>
            <a:pPr indent="0" lvl="0" marL="0" rtl="0" algn="l">
              <a:lnSpc>
                <a:spcPct val="115000"/>
              </a:lnSpc>
              <a:spcBef>
                <a:spcPts val="0"/>
              </a:spcBef>
              <a:spcAft>
                <a:spcPts val="0"/>
              </a:spcAft>
              <a:buNone/>
            </a:pPr>
            <a:r>
              <a:rPr lang="en"/>
              <a:t>        cms_certification_number_ccn,</a:t>
            </a:r>
            <a:endParaRPr/>
          </a:p>
          <a:p>
            <a:pPr indent="0" lvl="0" marL="0" rtl="0" algn="l">
              <a:lnSpc>
                <a:spcPct val="115000"/>
              </a:lnSpc>
              <a:spcBef>
                <a:spcPts val="0"/>
              </a:spcBef>
              <a:spcAft>
                <a:spcPts val="0"/>
              </a:spcAft>
              <a:buNone/>
            </a:pPr>
            <a:r>
              <a:rPr lang="en"/>
              <a:t>        provider_name,</a:t>
            </a:r>
            <a:endParaRPr/>
          </a:p>
          <a:p>
            <a:pPr indent="0" lvl="0" marL="0" rtl="0" algn="l">
              <a:lnSpc>
                <a:spcPct val="115000"/>
              </a:lnSpc>
              <a:spcBef>
                <a:spcPts val="0"/>
              </a:spcBef>
              <a:spcAft>
                <a:spcPts val="0"/>
              </a:spcAft>
              <a:buNone/>
            </a:pPr>
            <a:r>
              <a:rPr lang="en"/>
              <a:t>        state,</a:t>
            </a:r>
            <a:endParaRPr/>
          </a:p>
          <a:p>
            <a:pPr indent="0" lvl="0" marL="0" rtl="0" algn="l">
              <a:lnSpc>
                <a:spcPct val="115000"/>
              </a:lnSpc>
              <a:spcBef>
                <a:spcPts val="0"/>
              </a:spcBef>
              <a:spcAft>
                <a:spcPts val="0"/>
              </a:spcAft>
              <a:buNone/>
            </a:pPr>
            <a:r>
              <a:rPr lang="en"/>
              <a:t>        month,</a:t>
            </a:r>
            <a:endParaRPr/>
          </a:p>
          <a:p>
            <a:pPr indent="0" lvl="0" marL="0" rtl="0" algn="l">
              <a:lnSpc>
                <a:spcPct val="115000"/>
              </a:lnSpc>
              <a:spcBef>
                <a:spcPts val="0"/>
              </a:spcBef>
              <a:spcAft>
                <a:spcPts val="0"/>
              </a:spcAft>
              <a:buNone/>
            </a:pPr>
            <a:r>
              <a:rPr lang="en"/>
              <a:t>        SUM(Total_Nurse_Hrs) AS Total_Nurse_Hrs</a:t>
            </a:r>
            <a:endParaRPr/>
          </a:p>
          <a:p>
            <a:pPr indent="0" lvl="0" marL="0" rtl="0" algn="l">
              <a:lnSpc>
                <a:spcPct val="115000"/>
              </a:lnSpc>
              <a:spcBef>
                <a:spcPts val="0"/>
              </a:spcBef>
              <a:spcAft>
                <a:spcPts val="0"/>
              </a:spcAft>
              <a:buNone/>
            </a:pPr>
            <a:r>
              <a:rPr lang="en"/>
              <a:t>    FROM </a:t>
            </a:r>
            <a:endParaRPr/>
          </a:p>
          <a:p>
            <a:pPr indent="457200" lvl="0" marL="0" rtl="0" algn="l">
              <a:lnSpc>
                <a:spcPct val="115000"/>
              </a:lnSpc>
              <a:spcBef>
                <a:spcPts val="0"/>
              </a:spcBef>
              <a:spcAft>
                <a:spcPts val="0"/>
              </a:spcAft>
              <a:buNone/>
            </a:pPr>
            <a:r>
              <a:rPr lang="en"/>
              <a:t>pbj</a:t>
            </a:r>
            <a:endParaRPr/>
          </a:p>
          <a:p>
            <a:pPr indent="0" lvl="0" marL="0" rtl="0" algn="l">
              <a:lnSpc>
                <a:spcPct val="115000"/>
              </a:lnSpc>
              <a:spcBef>
                <a:spcPts val="0"/>
              </a:spcBef>
              <a:spcAft>
                <a:spcPts val="0"/>
              </a:spcAft>
              <a:buNone/>
            </a:pPr>
            <a:r>
              <a:rPr lang="en"/>
              <a:t>    GROUP BY</a:t>
            </a:r>
            <a:endParaRPr/>
          </a:p>
          <a:p>
            <a:pPr indent="0" lvl="0" marL="0" rtl="0" algn="l">
              <a:lnSpc>
                <a:spcPct val="115000"/>
              </a:lnSpc>
              <a:spcBef>
                <a:spcPts val="0"/>
              </a:spcBef>
              <a:spcAft>
                <a:spcPts val="0"/>
              </a:spcAft>
              <a:buNone/>
            </a:pPr>
            <a:r>
              <a:rPr lang="en"/>
              <a:t>        cms_certification_number_ccn,</a:t>
            </a:r>
            <a:endParaRPr/>
          </a:p>
          <a:p>
            <a:pPr indent="0" lvl="0" marL="0" rtl="0" algn="l">
              <a:lnSpc>
                <a:spcPct val="115000"/>
              </a:lnSpc>
              <a:spcBef>
                <a:spcPts val="0"/>
              </a:spcBef>
              <a:spcAft>
                <a:spcPts val="0"/>
              </a:spcAft>
              <a:buNone/>
            </a:pPr>
            <a:r>
              <a:rPr lang="en"/>
              <a:t>        provider_name,</a:t>
            </a:r>
            <a:endParaRPr/>
          </a:p>
          <a:p>
            <a:pPr indent="0" lvl="0" marL="0" rtl="0" algn="l">
              <a:lnSpc>
                <a:spcPct val="115000"/>
              </a:lnSpc>
              <a:spcBef>
                <a:spcPts val="0"/>
              </a:spcBef>
              <a:spcAft>
                <a:spcPts val="0"/>
              </a:spcAft>
              <a:buNone/>
            </a:pPr>
            <a:r>
              <a:rPr lang="en"/>
              <a:t>        state,</a:t>
            </a:r>
            <a:endParaRPr/>
          </a:p>
          <a:p>
            <a:pPr indent="0" lvl="0" marL="0" rtl="0" algn="l">
              <a:lnSpc>
                <a:spcPct val="115000"/>
              </a:lnSpc>
              <a:spcBef>
                <a:spcPts val="0"/>
              </a:spcBef>
              <a:spcAft>
                <a:spcPts val="0"/>
              </a:spcAft>
              <a:buNone/>
            </a:pPr>
            <a:r>
              <a:rPr lang="en"/>
              <a:t>        month</a:t>
            </a:r>
            <a:endParaRPr/>
          </a:p>
          <a:p>
            <a:pPr indent="0" lvl="0" marL="0" rtl="0" algn="l">
              <a:lnSpc>
                <a:spcPct val="115000"/>
              </a:lnSpc>
              <a:spcBef>
                <a:spcPts val="0"/>
              </a:spcBef>
              <a:spcAft>
                <a:spcPts val="0"/>
              </a:spcAft>
              <a:buNone/>
            </a:pPr>
            <a:r>
              <a:rPr lang="en"/>
              <a:t>)</a:t>
            </a:r>
            <a:endParaRPr/>
          </a:p>
        </p:txBody>
      </p:sp>
      <p:sp>
        <p:nvSpPr>
          <p:cNvPr id="228" name="Google Shape;228;p41"/>
          <p:cNvSpPr txBox="1"/>
          <p:nvPr/>
        </p:nvSpPr>
        <p:spPr>
          <a:xfrm>
            <a:off x="5165125" y="1050700"/>
            <a:ext cx="3000000" cy="312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overall monthly total</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SELECT</a:t>
            </a:r>
            <a:endParaRPr/>
          </a:p>
          <a:p>
            <a:pPr indent="0" lvl="0" marL="0" rtl="0" algn="l">
              <a:lnSpc>
                <a:spcPct val="115000"/>
              </a:lnSpc>
              <a:spcBef>
                <a:spcPts val="0"/>
              </a:spcBef>
              <a:spcAft>
                <a:spcPts val="0"/>
              </a:spcAft>
              <a:buNone/>
            </a:pPr>
            <a:r>
              <a:rPr lang="en"/>
              <a:t>    month,</a:t>
            </a:r>
            <a:endParaRPr/>
          </a:p>
          <a:p>
            <a:pPr indent="0" lvl="0" marL="0" rtl="0" algn="l">
              <a:lnSpc>
                <a:spcPct val="115000"/>
              </a:lnSpc>
              <a:spcBef>
                <a:spcPts val="0"/>
              </a:spcBef>
              <a:spcAft>
                <a:spcPts val="0"/>
              </a:spcAft>
              <a:buNone/>
            </a:pPr>
            <a:r>
              <a:rPr lang="en"/>
              <a:t>    SUM(Total_Nurse_Hrs) AS monthly_total_nurse_hrs</a:t>
            </a:r>
            <a:endParaRPr/>
          </a:p>
          <a:p>
            <a:pPr indent="0" lvl="0" marL="0" rtl="0" algn="l">
              <a:lnSpc>
                <a:spcPct val="115000"/>
              </a:lnSpc>
              <a:spcBef>
                <a:spcPts val="0"/>
              </a:spcBef>
              <a:spcAft>
                <a:spcPts val="0"/>
              </a:spcAft>
              <a:buNone/>
            </a:pPr>
            <a:r>
              <a:rPr lang="en"/>
              <a:t>FROM </a:t>
            </a:r>
            <a:endParaRPr/>
          </a:p>
          <a:p>
            <a:pPr indent="457200" lvl="0" marL="0" rtl="0" algn="l">
              <a:lnSpc>
                <a:spcPct val="115000"/>
              </a:lnSpc>
              <a:spcBef>
                <a:spcPts val="0"/>
              </a:spcBef>
              <a:spcAft>
                <a:spcPts val="0"/>
              </a:spcAft>
              <a:buNone/>
            </a:pPr>
            <a:r>
              <a:rPr lang="en">
                <a:solidFill>
                  <a:srgbClr val="0000FF"/>
                </a:solidFill>
              </a:rPr>
              <a:t>monthly_nurse_hours</a:t>
            </a:r>
            <a:endParaRPr>
              <a:solidFill>
                <a:srgbClr val="0000FF"/>
              </a:solidFill>
            </a:endParaRPr>
          </a:p>
          <a:p>
            <a:pPr indent="0" lvl="0" marL="0" rtl="0" algn="l">
              <a:lnSpc>
                <a:spcPct val="115000"/>
              </a:lnSpc>
              <a:spcBef>
                <a:spcPts val="0"/>
              </a:spcBef>
              <a:spcAft>
                <a:spcPts val="0"/>
              </a:spcAft>
              <a:buNone/>
            </a:pPr>
            <a:r>
              <a:rPr lang="en"/>
              <a:t>GROUP BY</a:t>
            </a:r>
            <a:endParaRPr/>
          </a:p>
          <a:p>
            <a:pPr indent="0" lvl="0" marL="0" rtl="0" algn="l">
              <a:lnSpc>
                <a:spcPct val="115000"/>
              </a:lnSpc>
              <a:spcBef>
                <a:spcPts val="0"/>
              </a:spcBef>
              <a:spcAft>
                <a:spcPts val="0"/>
              </a:spcAft>
              <a:buNone/>
            </a:pPr>
            <a:r>
              <a:rPr lang="en"/>
              <a:t>    month</a:t>
            </a:r>
            <a:endParaRPr/>
          </a:p>
          <a:p>
            <a:pPr indent="0" lvl="0" marL="0" rtl="0" algn="l">
              <a:lnSpc>
                <a:spcPct val="115000"/>
              </a:lnSpc>
              <a:spcBef>
                <a:spcPts val="0"/>
              </a:spcBef>
              <a:spcAft>
                <a:spcPts val="0"/>
              </a:spcAft>
              <a:buNone/>
            </a:pPr>
            <a:r>
              <a:rPr lang="en"/>
              <a:t>ORDER BY</a:t>
            </a:r>
            <a:endParaRPr/>
          </a:p>
          <a:p>
            <a:pPr indent="0" lvl="0" marL="0" rtl="0" algn="l">
              <a:lnSpc>
                <a:spcPct val="115000"/>
              </a:lnSpc>
              <a:spcBef>
                <a:spcPts val="0"/>
              </a:spcBef>
              <a:spcAft>
                <a:spcPts val="0"/>
              </a:spcAft>
              <a:buNone/>
            </a:pPr>
            <a:r>
              <a:rPr lang="en"/>
              <a:t>    month;</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2"/>
          <p:cNvSpPr txBox="1"/>
          <p:nvPr/>
        </p:nvSpPr>
        <p:spPr>
          <a:xfrm>
            <a:off x="579300" y="818450"/>
            <a:ext cx="7985400" cy="2913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400"/>
              <a:t>Operational Metric # 3</a:t>
            </a:r>
            <a:endParaRPr sz="2400"/>
          </a:p>
          <a:p>
            <a:pPr indent="0" lvl="0" marL="0" rtl="0" algn="ctr">
              <a:lnSpc>
                <a:spcPct val="115000"/>
              </a:lnSpc>
              <a:spcBef>
                <a:spcPts val="0"/>
              </a:spcBef>
              <a:spcAft>
                <a:spcPts val="0"/>
              </a:spcAft>
              <a:buNone/>
            </a:pPr>
            <a:r>
              <a:t/>
            </a:r>
            <a:endParaRPr sz="2400"/>
          </a:p>
          <a:p>
            <a:pPr indent="457200" lvl="0" marL="0" rtl="0" algn="l">
              <a:lnSpc>
                <a:spcPct val="115000"/>
              </a:lnSpc>
              <a:spcBef>
                <a:spcPts val="0"/>
              </a:spcBef>
              <a:spcAft>
                <a:spcPts val="0"/>
              </a:spcAft>
              <a:buNone/>
            </a:pPr>
            <a:r>
              <a:rPr lang="en" sz="2400"/>
              <a:t>Ratio of permanent staff to temporary/contract staff.</a:t>
            </a:r>
            <a:endParaRPr sz="24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This varies highly from one provider to another one.  Some providers might not have any contract nurses at all; others can have more than 40% contract workers.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nvSpPr>
        <p:spPr>
          <a:xfrm>
            <a:off x="600400" y="230175"/>
            <a:ext cx="8235600" cy="1554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Arriving at answer to operational metric # 3 (Part 1):</a:t>
            </a:r>
            <a:endParaRPr sz="2000"/>
          </a:p>
          <a:p>
            <a:pPr indent="0" lvl="0" marL="0" rtl="0" algn="ctr">
              <a:lnSpc>
                <a:spcPct val="115000"/>
              </a:lnSpc>
              <a:spcBef>
                <a:spcPts val="0"/>
              </a:spcBef>
              <a:spcAft>
                <a:spcPts val="0"/>
              </a:spcAft>
              <a:buNone/>
            </a:pPr>
            <a:r>
              <a:t/>
            </a:r>
            <a:endParaRPr sz="2000"/>
          </a:p>
          <a:p>
            <a:pPr indent="0" lvl="0" marL="0" rtl="0" algn="ctr">
              <a:lnSpc>
                <a:spcPct val="115000"/>
              </a:lnSpc>
              <a:spcBef>
                <a:spcPts val="0"/>
              </a:spcBef>
              <a:spcAft>
                <a:spcPts val="0"/>
              </a:spcAft>
              <a:buNone/>
            </a:pPr>
            <a:r>
              <a:rPr lang="en" sz="2000"/>
              <a:t>Employee and and contractor hours were added in script that moved data from refined to curated layers in AWS Glue Job.</a:t>
            </a:r>
            <a:endParaRPr sz="2000"/>
          </a:p>
        </p:txBody>
      </p:sp>
      <p:sp>
        <p:nvSpPr>
          <p:cNvPr id="239" name="Google Shape;239;p43"/>
          <p:cNvSpPr txBox="1"/>
          <p:nvPr/>
        </p:nvSpPr>
        <p:spPr>
          <a:xfrm>
            <a:off x="1100725" y="2031375"/>
            <a:ext cx="2641800" cy="213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df = df.withColumn(</a:t>
            </a:r>
            <a:endParaRPr/>
          </a:p>
          <a:p>
            <a:pPr indent="0" lvl="0" marL="0" rtl="0" algn="l">
              <a:lnSpc>
                <a:spcPct val="115000"/>
              </a:lnSpc>
              <a:spcBef>
                <a:spcPts val="0"/>
              </a:spcBef>
              <a:spcAft>
                <a:spcPts val="0"/>
              </a:spcAft>
              <a:buNone/>
            </a:pPr>
            <a:r>
              <a:rPr lang="en"/>
              <a:t>    "employee_hrs",</a:t>
            </a:r>
            <a:endParaRPr/>
          </a:p>
          <a:p>
            <a:pPr indent="0" lvl="0" marL="0" rtl="0" algn="l">
              <a:lnSpc>
                <a:spcPct val="115000"/>
              </a:lnSpc>
              <a:spcBef>
                <a:spcPts val="0"/>
              </a:spcBef>
              <a:spcAft>
                <a:spcPts val="0"/>
              </a:spcAft>
              <a:buNone/>
            </a:pPr>
            <a:r>
              <a:rPr lang="en"/>
              <a:t>    col("Hrs_RN_emp") +</a:t>
            </a:r>
            <a:endParaRPr/>
          </a:p>
          <a:p>
            <a:pPr indent="0" lvl="0" marL="0" rtl="0" algn="l">
              <a:lnSpc>
                <a:spcPct val="115000"/>
              </a:lnSpc>
              <a:spcBef>
                <a:spcPts val="0"/>
              </a:spcBef>
              <a:spcAft>
                <a:spcPts val="0"/>
              </a:spcAft>
              <a:buNone/>
            </a:pPr>
            <a:r>
              <a:rPr lang="en"/>
              <a:t>    col("Hrs_LPN_emp") +</a:t>
            </a:r>
            <a:endParaRPr/>
          </a:p>
          <a:p>
            <a:pPr indent="0" lvl="0" marL="0" rtl="0" algn="l">
              <a:lnSpc>
                <a:spcPct val="115000"/>
              </a:lnSpc>
              <a:spcBef>
                <a:spcPts val="0"/>
              </a:spcBef>
              <a:spcAft>
                <a:spcPts val="0"/>
              </a:spcAft>
              <a:buNone/>
            </a:pPr>
            <a:r>
              <a:rPr lang="en"/>
              <a:t>    col("Hrs_CNA_emp") +</a:t>
            </a:r>
            <a:endParaRPr/>
          </a:p>
          <a:p>
            <a:pPr indent="0" lvl="0" marL="0" rtl="0" algn="l">
              <a:lnSpc>
                <a:spcPct val="115000"/>
              </a:lnSpc>
              <a:spcBef>
                <a:spcPts val="0"/>
              </a:spcBef>
              <a:spcAft>
                <a:spcPts val="0"/>
              </a:spcAft>
              <a:buNone/>
            </a:pPr>
            <a:r>
              <a:rPr lang="en"/>
              <a:t>    col("Hrs_NAtrn_emp") +</a:t>
            </a:r>
            <a:endParaRPr/>
          </a:p>
          <a:p>
            <a:pPr indent="0" lvl="0" marL="0" rtl="0" algn="l">
              <a:lnSpc>
                <a:spcPct val="115000"/>
              </a:lnSpc>
              <a:spcBef>
                <a:spcPts val="0"/>
              </a:spcBef>
              <a:spcAft>
                <a:spcPts val="0"/>
              </a:spcAft>
              <a:buNone/>
            </a:pPr>
            <a:r>
              <a:rPr lang="en"/>
              <a:t>    col("Hrs_MedAide_emp")</a:t>
            </a:r>
            <a:endParaRPr/>
          </a:p>
          <a:p>
            <a:pPr indent="0" lvl="0" marL="0" rtl="0" algn="l">
              <a:lnSpc>
                <a:spcPct val="115000"/>
              </a:lnSpc>
              <a:spcBef>
                <a:spcPts val="0"/>
              </a:spcBef>
              <a:spcAft>
                <a:spcPts val="0"/>
              </a:spcAft>
              <a:buNone/>
            </a:pPr>
            <a:r>
              <a:rPr lang="en"/>
              <a:t>    )</a:t>
            </a:r>
            <a:endParaRPr/>
          </a:p>
        </p:txBody>
      </p:sp>
      <p:sp>
        <p:nvSpPr>
          <p:cNvPr id="240" name="Google Shape;240;p43"/>
          <p:cNvSpPr txBox="1"/>
          <p:nvPr/>
        </p:nvSpPr>
        <p:spPr>
          <a:xfrm>
            <a:off x="4471925" y="1951300"/>
            <a:ext cx="2411700" cy="213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df = df.withColumn(</a:t>
            </a:r>
            <a:endParaRPr/>
          </a:p>
          <a:p>
            <a:pPr indent="0" lvl="0" marL="0" rtl="0" algn="l">
              <a:lnSpc>
                <a:spcPct val="115000"/>
              </a:lnSpc>
              <a:spcBef>
                <a:spcPts val="0"/>
              </a:spcBef>
              <a:spcAft>
                <a:spcPts val="0"/>
              </a:spcAft>
              <a:buNone/>
            </a:pPr>
            <a:r>
              <a:rPr lang="en"/>
              <a:t>    "contractor_hrs",</a:t>
            </a:r>
            <a:endParaRPr/>
          </a:p>
          <a:p>
            <a:pPr indent="0" lvl="0" marL="0" rtl="0" algn="l">
              <a:lnSpc>
                <a:spcPct val="115000"/>
              </a:lnSpc>
              <a:spcBef>
                <a:spcPts val="0"/>
              </a:spcBef>
              <a:spcAft>
                <a:spcPts val="0"/>
              </a:spcAft>
              <a:buNone/>
            </a:pPr>
            <a:r>
              <a:rPr lang="en"/>
              <a:t>    col("Hrs_RN_ctr") +</a:t>
            </a:r>
            <a:endParaRPr/>
          </a:p>
          <a:p>
            <a:pPr indent="0" lvl="0" marL="0" rtl="0" algn="l">
              <a:lnSpc>
                <a:spcPct val="115000"/>
              </a:lnSpc>
              <a:spcBef>
                <a:spcPts val="0"/>
              </a:spcBef>
              <a:spcAft>
                <a:spcPts val="0"/>
              </a:spcAft>
              <a:buNone/>
            </a:pPr>
            <a:r>
              <a:rPr lang="en"/>
              <a:t>    col("Hrs_LPN_ctr") +</a:t>
            </a:r>
            <a:endParaRPr/>
          </a:p>
          <a:p>
            <a:pPr indent="0" lvl="0" marL="0" rtl="0" algn="l">
              <a:lnSpc>
                <a:spcPct val="115000"/>
              </a:lnSpc>
              <a:spcBef>
                <a:spcPts val="0"/>
              </a:spcBef>
              <a:spcAft>
                <a:spcPts val="0"/>
              </a:spcAft>
              <a:buNone/>
            </a:pPr>
            <a:r>
              <a:rPr lang="en"/>
              <a:t>    col("Hrs_CNA_ctr") +</a:t>
            </a:r>
            <a:endParaRPr/>
          </a:p>
          <a:p>
            <a:pPr indent="0" lvl="0" marL="0" rtl="0" algn="l">
              <a:lnSpc>
                <a:spcPct val="115000"/>
              </a:lnSpc>
              <a:spcBef>
                <a:spcPts val="0"/>
              </a:spcBef>
              <a:spcAft>
                <a:spcPts val="0"/>
              </a:spcAft>
              <a:buNone/>
            </a:pPr>
            <a:r>
              <a:rPr lang="en"/>
              <a:t>    col("Hrs_NAtrn_ctr") +</a:t>
            </a:r>
            <a:endParaRPr/>
          </a:p>
          <a:p>
            <a:pPr indent="0" lvl="0" marL="0" rtl="0" algn="l">
              <a:lnSpc>
                <a:spcPct val="115000"/>
              </a:lnSpc>
              <a:spcBef>
                <a:spcPts val="0"/>
              </a:spcBef>
              <a:spcAft>
                <a:spcPts val="0"/>
              </a:spcAft>
              <a:buNone/>
            </a:pPr>
            <a:r>
              <a:rPr lang="en"/>
              <a:t>    col("Hrs_MedAide_ctr")</a:t>
            </a:r>
            <a:endParaRPr/>
          </a:p>
          <a:p>
            <a:pPr indent="0" lvl="0" marL="0" rtl="0" algn="l">
              <a:lnSpc>
                <a:spcPct val="115000"/>
              </a:lnSpc>
              <a:spcBef>
                <a:spcPts val="0"/>
              </a:spcBef>
              <a:spcAft>
                <a:spcPts val="0"/>
              </a:spcAft>
              <a:buNone/>
            </a:pPr>
            <a:r>
              <a:rPr lang="en"/>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4"/>
          <p:cNvSpPr txBox="1"/>
          <p:nvPr/>
        </p:nvSpPr>
        <p:spPr>
          <a:xfrm>
            <a:off x="230175" y="130100"/>
            <a:ext cx="8775900" cy="235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Arriving at answer to operational metric # 3 (Part 2):</a:t>
            </a:r>
            <a:endParaRPr sz="2000"/>
          </a:p>
          <a:p>
            <a:pPr indent="0" lvl="0" marL="0" rtl="0" algn="ctr">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en" sz="1700"/>
              <a:t>In streamlit, employee to contractor ratio is computed by dividing employee hours by contractor hours.</a:t>
            </a:r>
            <a:endParaRPr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rPr lang="en" sz="1700"/>
              <a:t>Percentage of contractor hours is computed by dividing contractor hours by the sum of employee hours and contractor hours.</a:t>
            </a:r>
            <a:endParaRPr sz="1700"/>
          </a:p>
        </p:txBody>
      </p:sp>
      <p:sp>
        <p:nvSpPr>
          <p:cNvPr id="246" name="Google Shape;246;p44"/>
          <p:cNvSpPr txBox="1"/>
          <p:nvPr/>
        </p:nvSpPr>
        <p:spPr>
          <a:xfrm>
            <a:off x="230175" y="2838325"/>
            <a:ext cx="4212900" cy="188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 Permanent / Contractor hours ratio</a:t>
            </a:r>
            <a:endParaRPr/>
          </a:p>
          <a:p>
            <a:pPr indent="0" lvl="0" marL="0" rtl="0" algn="l">
              <a:lnSpc>
                <a:spcPct val="115000"/>
              </a:lnSpc>
              <a:spcBef>
                <a:spcPts val="0"/>
              </a:spcBef>
              <a:spcAft>
                <a:spcPts val="0"/>
              </a:spcAft>
              <a:buNone/>
            </a:pPr>
            <a:r>
              <a:rPr lang="en"/>
              <a:t>if total_contractor_hrs &gt; 0:</a:t>
            </a:r>
            <a:endParaRPr/>
          </a:p>
          <a:p>
            <a:pPr indent="0" lvl="0" marL="0" rtl="0" algn="l">
              <a:lnSpc>
                <a:spcPct val="115000"/>
              </a:lnSpc>
              <a:spcBef>
                <a:spcPts val="0"/>
              </a:spcBef>
              <a:spcAft>
                <a:spcPts val="0"/>
              </a:spcAft>
              <a:buNone/>
            </a:pPr>
            <a:r>
              <a:rPr lang="en"/>
              <a:t>    employee_contractor_ratio = (</a:t>
            </a:r>
            <a:endParaRPr/>
          </a:p>
          <a:p>
            <a:pPr indent="0" lvl="0" marL="0" rtl="0" algn="l">
              <a:lnSpc>
                <a:spcPct val="115000"/>
              </a:lnSpc>
              <a:spcBef>
                <a:spcPts val="0"/>
              </a:spcBef>
              <a:spcAft>
                <a:spcPts val="0"/>
              </a:spcAft>
              <a:buNone/>
            </a:pPr>
            <a:r>
              <a:rPr lang="en"/>
              <a:t>        total_employee_hrs / total_contractor_hrs</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else:</a:t>
            </a:r>
            <a:endParaRPr/>
          </a:p>
          <a:p>
            <a:pPr indent="0" lvl="0" marL="0" rtl="0" algn="l">
              <a:lnSpc>
                <a:spcPct val="115000"/>
              </a:lnSpc>
              <a:spcBef>
                <a:spcPts val="0"/>
              </a:spcBef>
              <a:spcAft>
                <a:spcPts val="0"/>
              </a:spcAft>
              <a:buNone/>
            </a:pPr>
            <a:r>
              <a:rPr lang="en"/>
              <a:t>    employee_contractor_ratio = None</a:t>
            </a:r>
            <a:endParaRPr/>
          </a:p>
        </p:txBody>
      </p:sp>
      <p:sp>
        <p:nvSpPr>
          <p:cNvPr id="247" name="Google Shape;247;p44"/>
          <p:cNvSpPr txBox="1"/>
          <p:nvPr/>
        </p:nvSpPr>
        <p:spPr>
          <a:xfrm>
            <a:off x="4763300" y="2751875"/>
            <a:ext cx="40926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contractor_hours_pct = (</a:t>
            </a:r>
            <a:endParaRPr/>
          </a:p>
          <a:p>
            <a:pPr indent="0" lvl="0" marL="0" rtl="0" algn="l">
              <a:lnSpc>
                <a:spcPct val="115000"/>
              </a:lnSpc>
              <a:spcBef>
                <a:spcPts val="0"/>
              </a:spcBef>
              <a:spcAft>
                <a:spcPts val="0"/>
              </a:spcAft>
              <a:buNone/>
            </a:pPr>
            <a:r>
              <a:rPr lang="en"/>
              <a:t>        total_contractor_hrs /</a:t>
            </a:r>
            <a:endParaRPr/>
          </a:p>
          <a:p>
            <a:pPr indent="0" lvl="0" marL="0" rtl="0" algn="l">
              <a:lnSpc>
                <a:spcPct val="115000"/>
              </a:lnSpc>
              <a:spcBef>
                <a:spcPts val="0"/>
              </a:spcBef>
              <a:spcAft>
                <a:spcPts val="0"/>
              </a:spcAft>
              <a:buNone/>
            </a:pPr>
            <a:r>
              <a:rPr lang="en"/>
              <a:t>        (total_employee_hrs + total_contractor_hrs)</a:t>
            </a:r>
            <a:endParaRPr/>
          </a:p>
          <a:p>
            <a:pPr indent="0" lvl="0" marL="0" rtl="0" algn="l">
              <a:lnSpc>
                <a:spcPct val="115000"/>
              </a:lnSpc>
              <a:spcBef>
                <a:spcPts val="0"/>
              </a:spcBef>
              <a:spcAft>
                <a:spcPts val="0"/>
              </a:spcAft>
              <a:buNone/>
            </a:pPr>
            <a:r>
              <a:rPr lang="en"/>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5"/>
          <p:cNvSpPr txBox="1"/>
          <p:nvPr/>
        </p:nvSpPr>
        <p:spPr>
          <a:xfrm>
            <a:off x="352425" y="1152525"/>
            <a:ext cx="8163000" cy="319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t>Facility metrics question # 2: Bed utilization rates by hospital and department.</a:t>
            </a:r>
            <a:endParaRPr sz="18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There's no data concerning the departments in the facilities, yet the highest rate was Oak Bend, which was occupied by more than 300%.  This means that for every 3 people, there is less than 1 bed.</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Provider Name								State		Occupancy Rate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OAK BEND MEDICAL CENTER					TX		3.19</a:t>
            </a:r>
            <a:endParaRPr/>
          </a:p>
          <a:p>
            <a:pPr indent="0" lvl="0" marL="0" rtl="0" algn="l">
              <a:lnSpc>
                <a:spcPct val="115000"/>
              </a:lnSpc>
              <a:spcBef>
                <a:spcPts val="0"/>
              </a:spcBef>
              <a:spcAft>
                <a:spcPts val="0"/>
              </a:spcAft>
              <a:buNone/>
            </a:pPr>
            <a:r>
              <a:rPr lang="en"/>
              <a:t>	PIH HEALTH GOOD SAMARITAN HOSPITAL D/P SNF	CA		2.34</a:t>
            </a:r>
            <a:endParaRPr/>
          </a:p>
          <a:p>
            <a:pPr indent="0" lvl="0" marL="0" rtl="0" algn="l">
              <a:lnSpc>
                <a:spcPct val="115000"/>
              </a:lnSpc>
              <a:spcBef>
                <a:spcPts val="0"/>
              </a:spcBef>
              <a:spcAft>
                <a:spcPts val="0"/>
              </a:spcAft>
              <a:buNone/>
            </a:pPr>
            <a:r>
              <a:rPr lang="en"/>
              <a:t>	PENN NURSING CENTER						NC		1.81</a:t>
            </a:r>
            <a:endParaRPr/>
          </a:p>
          <a:p>
            <a:pPr indent="0" lvl="0" marL="0" rtl="0" algn="l">
              <a:lnSpc>
                <a:spcPct val="115000"/>
              </a:lnSpc>
              <a:spcBef>
                <a:spcPts val="0"/>
              </a:spcBef>
              <a:spcAft>
                <a:spcPts val="0"/>
              </a:spcAft>
              <a:buNone/>
            </a:pPr>
            <a:r>
              <a:rPr lang="en"/>
              <a:t>	SOLARIS HEALTHCARE PARKWAY				FL		1.40</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6"/>
          <p:cNvSpPr txBox="1"/>
          <p:nvPr/>
        </p:nvSpPr>
        <p:spPr>
          <a:xfrm>
            <a:off x="298250" y="952500"/>
            <a:ext cx="8293500" cy="273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Arriving at answer to facility metrics question # 2 (part 1)</a:t>
            </a:r>
            <a:endParaRPr sz="20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Occupancy rate (bed utiilization rate) was calculated in the AWS Glue script by dividing the average residents each day by the number of beds.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df = df.withColumn(</a:t>
            </a:r>
            <a:endParaRPr/>
          </a:p>
          <a:p>
            <a:pPr indent="0" lvl="0" marL="0" rtl="0" algn="l">
              <a:lnSpc>
                <a:spcPct val="115000"/>
              </a:lnSpc>
              <a:spcBef>
                <a:spcPts val="0"/>
              </a:spcBef>
              <a:spcAft>
                <a:spcPts val="0"/>
              </a:spcAft>
              <a:buNone/>
            </a:pPr>
            <a:r>
              <a:rPr lang="en"/>
              <a:t>    "occupancy_rate",</a:t>
            </a:r>
            <a:endParaRPr/>
          </a:p>
          <a:p>
            <a:pPr indent="0" lvl="0" marL="0" rtl="0" algn="l">
              <a:lnSpc>
                <a:spcPct val="115000"/>
              </a:lnSpc>
              <a:spcBef>
                <a:spcPts val="0"/>
              </a:spcBef>
              <a:spcAft>
                <a:spcPts val="0"/>
              </a:spcAft>
              <a:buNone/>
            </a:pPr>
            <a:r>
              <a:rPr lang="en"/>
              <a:t>    col("Average Number of Residents per Day") /</a:t>
            </a:r>
            <a:endParaRPr/>
          </a:p>
          <a:p>
            <a:pPr indent="0" lvl="0" marL="0" rtl="0" algn="l">
              <a:lnSpc>
                <a:spcPct val="115000"/>
              </a:lnSpc>
              <a:spcBef>
                <a:spcPts val="0"/>
              </a:spcBef>
              <a:spcAft>
                <a:spcPts val="0"/>
              </a:spcAft>
              <a:buNone/>
            </a:pPr>
            <a:r>
              <a:rPr lang="en"/>
              <a:t>    col("Number of Certified Beds")</a:t>
            </a:r>
            <a:endParaRPr/>
          </a:p>
          <a:p>
            <a:pPr indent="0" lvl="0" marL="0" rtl="0" algn="l">
              <a:lnSpc>
                <a:spcPct val="115000"/>
              </a:lnSpc>
              <a:spcBef>
                <a:spcPts val="0"/>
              </a:spcBef>
              <a:spcAft>
                <a:spcPts val="0"/>
              </a:spcAft>
              <a:buNone/>
            </a:pPr>
            <a:r>
              <a:rPr lang="en"/>
              <a: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nvSpPr>
        <p:spPr>
          <a:xfrm>
            <a:off x="750450" y="346350"/>
            <a:ext cx="7196700" cy="471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Arriving at answer to facility metrics question # 2 (part 2)</a:t>
            </a:r>
            <a:endParaRPr sz="20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From there, providers were sorted according to which one had the highest occupancy.</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provider_occupancy = (</a:t>
            </a:r>
            <a:endParaRPr/>
          </a:p>
          <a:p>
            <a:pPr indent="0" lvl="0" marL="0" rtl="0" algn="l">
              <a:lnSpc>
                <a:spcPct val="115000"/>
              </a:lnSpc>
              <a:spcBef>
                <a:spcPts val="0"/>
              </a:spcBef>
              <a:spcAft>
                <a:spcPts val="0"/>
              </a:spcAft>
              <a:buNone/>
            </a:pPr>
            <a:r>
              <a:rPr lang="en"/>
              <a:t>    filtered_df[</a:t>
            </a:r>
            <a:endParaRPr/>
          </a:p>
          <a:p>
            <a:pPr indent="0" lvl="0" marL="0" rtl="0" algn="l">
              <a:lnSpc>
                <a:spcPct val="115000"/>
              </a:lnSpc>
              <a:spcBef>
                <a:spcPts val="0"/>
              </a:spcBef>
              <a:spcAft>
                <a:spcPts val="0"/>
              </a:spcAft>
              <a:buNone/>
            </a:pPr>
            <a:r>
              <a:rPr lang="en"/>
              <a:t>        ["provider_name", "state", "occupancy_rate"]</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    .sort_values(</a:t>
            </a:r>
            <a:endParaRPr/>
          </a:p>
          <a:p>
            <a:pPr indent="0" lvl="0" marL="0" rtl="0" algn="l">
              <a:lnSpc>
                <a:spcPct val="115000"/>
              </a:lnSpc>
              <a:spcBef>
                <a:spcPts val="0"/>
              </a:spcBef>
              <a:spcAft>
                <a:spcPts val="0"/>
              </a:spcAft>
              <a:buNone/>
            </a:pPr>
            <a:r>
              <a:rPr lang="en"/>
              <a:t>        "occupancy_rate",</a:t>
            </a:r>
            <a:endParaRPr/>
          </a:p>
          <a:p>
            <a:pPr indent="0" lvl="0" marL="0" rtl="0" algn="l">
              <a:lnSpc>
                <a:spcPct val="115000"/>
              </a:lnSpc>
              <a:spcBef>
                <a:spcPts val="0"/>
              </a:spcBef>
              <a:spcAft>
                <a:spcPts val="0"/>
              </a:spcAft>
              <a:buNone/>
            </a:pPr>
            <a:r>
              <a:rPr lang="en"/>
              <a:t>        ascending=False</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a:t>
            </a:r>
            <a:endParaRPr/>
          </a:p>
          <a:p>
            <a:pPr indent="0" lvl="0" marL="0" rtl="0" algn="l">
              <a:lnSpc>
                <a:spcPct val="115000"/>
              </a:lnSpc>
              <a:spcBef>
                <a:spcPts val="0"/>
              </a:spcBef>
              <a:spcAft>
                <a:spcPts val="0"/>
              </a:spcAft>
              <a:buNone/>
            </a:pPr>
            <a:r>
              <a:rPr lang="en"/>
              <a:t>st.dataframe(</a:t>
            </a:r>
            <a:endParaRPr/>
          </a:p>
          <a:p>
            <a:pPr indent="0" lvl="0" marL="0" rtl="0" algn="l">
              <a:lnSpc>
                <a:spcPct val="115000"/>
              </a:lnSpc>
              <a:spcBef>
                <a:spcPts val="0"/>
              </a:spcBef>
              <a:spcAft>
                <a:spcPts val="0"/>
              </a:spcAft>
              <a:buNone/>
            </a:pPr>
            <a:r>
              <a:rPr lang="en"/>
              <a:t>    provider_occupancy.style.format({</a:t>
            </a:r>
            <a:endParaRPr/>
          </a:p>
          <a:p>
            <a:pPr indent="0" lvl="0" marL="0" rtl="0" algn="l">
              <a:lnSpc>
                <a:spcPct val="115000"/>
              </a:lnSpc>
              <a:spcBef>
                <a:spcPts val="0"/>
              </a:spcBef>
              <a:spcAft>
                <a:spcPts val="0"/>
              </a:spcAft>
              <a:buNone/>
            </a:pPr>
            <a:r>
              <a:rPr lang="en"/>
              <a:t>        "occupancy_rate": "{:.2f}"</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8"/>
          <p:cNvSpPr txBox="1"/>
          <p:nvPr/>
        </p:nvSpPr>
        <p:spPr>
          <a:xfrm>
            <a:off x="196400" y="1272800"/>
            <a:ext cx="34173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SQL solution for finding occupancy rate by provider</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1800"/>
              <a:t>Ordering by descending values mean the largest values appear first</a:t>
            </a:r>
            <a:endParaRPr sz="1800"/>
          </a:p>
        </p:txBody>
      </p:sp>
      <p:sp>
        <p:nvSpPr>
          <p:cNvPr id="268" name="Google Shape;268;p48"/>
          <p:cNvSpPr txBox="1"/>
          <p:nvPr/>
        </p:nvSpPr>
        <p:spPr>
          <a:xfrm>
            <a:off x="3874800" y="1504350"/>
            <a:ext cx="5119800" cy="213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SELECT</a:t>
            </a:r>
            <a:endParaRPr/>
          </a:p>
          <a:p>
            <a:pPr indent="0" lvl="0" marL="0" rtl="0" algn="l">
              <a:lnSpc>
                <a:spcPct val="115000"/>
              </a:lnSpc>
              <a:spcBef>
                <a:spcPts val="0"/>
              </a:spcBef>
              <a:spcAft>
                <a:spcPts val="0"/>
              </a:spcAft>
              <a:buNone/>
            </a:pPr>
            <a:r>
              <a:rPr lang="en"/>
              <a:t>    provider_name,</a:t>
            </a:r>
            <a:endParaRPr/>
          </a:p>
          <a:p>
            <a:pPr indent="0" lvl="0" marL="0" rtl="0" algn="l">
              <a:lnSpc>
                <a:spcPct val="115000"/>
              </a:lnSpc>
              <a:spcBef>
                <a:spcPts val="0"/>
              </a:spcBef>
              <a:spcAft>
                <a:spcPts val="0"/>
              </a:spcAft>
              <a:buNone/>
            </a:pPr>
            <a:r>
              <a:rPr lang="en"/>
              <a:t>    state,</a:t>
            </a:r>
            <a:endParaRPr/>
          </a:p>
          <a:p>
            <a:pPr indent="0" lvl="0" marL="0" rtl="0" algn="l">
              <a:lnSpc>
                <a:spcPct val="115000"/>
              </a:lnSpc>
              <a:spcBef>
                <a:spcPts val="0"/>
              </a:spcBef>
              <a:spcAft>
                <a:spcPts val="0"/>
              </a:spcAft>
              <a:buNone/>
            </a:pPr>
            <a:r>
              <a:rPr lang="en"/>
              <a:t>    ROUND(occupancy_rate * 100, 2) AS occupancy_percent</a:t>
            </a:r>
            <a:endParaRPr/>
          </a:p>
          <a:p>
            <a:pPr indent="0" lvl="0" marL="0" rtl="0" algn="l">
              <a:lnSpc>
                <a:spcPct val="115000"/>
              </a:lnSpc>
              <a:spcBef>
                <a:spcPts val="0"/>
              </a:spcBef>
              <a:spcAft>
                <a:spcPts val="0"/>
              </a:spcAft>
              <a:buNone/>
            </a:pPr>
            <a:r>
              <a:rPr lang="en"/>
              <a:t>FROM</a:t>
            </a:r>
            <a:endParaRPr/>
          </a:p>
          <a:p>
            <a:pPr indent="0" lvl="0" marL="0" rtl="0" algn="l">
              <a:lnSpc>
                <a:spcPct val="115000"/>
              </a:lnSpc>
              <a:spcBef>
                <a:spcPts val="0"/>
              </a:spcBef>
              <a:spcAft>
                <a:spcPts val="0"/>
              </a:spcAft>
              <a:buNone/>
            </a:pPr>
            <a:r>
              <a:rPr lang="en"/>
              <a:t>    filtered_df</a:t>
            </a:r>
            <a:endParaRPr/>
          </a:p>
          <a:p>
            <a:pPr indent="0" lvl="0" marL="0" rtl="0" algn="l">
              <a:lnSpc>
                <a:spcPct val="115000"/>
              </a:lnSpc>
              <a:spcBef>
                <a:spcPts val="0"/>
              </a:spcBef>
              <a:spcAft>
                <a:spcPts val="0"/>
              </a:spcAft>
              <a:buNone/>
            </a:pPr>
            <a:r>
              <a:rPr lang="en"/>
              <a:t>ORDER BY</a:t>
            </a:r>
            <a:endParaRPr/>
          </a:p>
          <a:p>
            <a:pPr indent="0" lvl="0" marL="0" rtl="0" algn="l">
              <a:lnSpc>
                <a:spcPct val="115000"/>
              </a:lnSpc>
              <a:spcBef>
                <a:spcPts val="0"/>
              </a:spcBef>
              <a:spcAft>
                <a:spcPts val="0"/>
              </a:spcAft>
              <a:buNone/>
            </a:pPr>
            <a:r>
              <a:rPr lang="en"/>
              <a:t>    occupancy_rate DESC;</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9"/>
          <p:cNvSpPr txBox="1"/>
          <p:nvPr/>
        </p:nvSpPr>
        <p:spPr>
          <a:xfrm>
            <a:off x="1100775" y="319475"/>
            <a:ext cx="68448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t>Business </a:t>
            </a:r>
            <a:r>
              <a:rPr lang="en" sz="2000"/>
              <a:t>Question 1:</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What is the relationship between nurse staffing levels and hospital occupancy rates?</a:t>
            </a:r>
            <a:endParaRPr sz="2000"/>
          </a:p>
        </p:txBody>
      </p:sp>
      <p:sp>
        <p:nvSpPr>
          <p:cNvPr id="274" name="Google Shape;274;p49"/>
          <p:cNvSpPr txBox="1"/>
          <p:nvPr/>
        </p:nvSpPr>
        <p:spPr>
          <a:xfrm>
            <a:off x="330225" y="2053388"/>
            <a:ext cx="3000000" cy="26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Answer:</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There’s substantial variation.  As can be seen, occupancy rates are from around 20 to 120%;</a:t>
            </a:r>
            <a:endParaRPr/>
          </a:p>
          <a:p>
            <a:pPr indent="0" lvl="0" marL="0" rtl="0" algn="l">
              <a:lnSpc>
                <a:spcPct val="115000"/>
              </a:lnSpc>
              <a:spcBef>
                <a:spcPts val="0"/>
              </a:spcBef>
              <a:spcAft>
                <a:spcPts val="0"/>
              </a:spcAft>
              <a:buNone/>
            </a:pPr>
            <a:r>
              <a:rPr lang="en"/>
              <a:t>Nurse staffing hours can go from around 2 to more than 9.  Occupancy by itself doesn’t </a:t>
            </a:r>
            <a:r>
              <a:rPr lang="en"/>
              <a:t>explain the large difference in nurse staffing levels.</a:t>
            </a:r>
            <a:endParaRPr/>
          </a:p>
        </p:txBody>
      </p:sp>
      <p:pic>
        <p:nvPicPr>
          <p:cNvPr id="275" name="Google Shape;275;p49"/>
          <p:cNvPicPr preferRelativeResize="0"/>
          <p:nvPr/>
        </p:nvPicPr>
        <p:blipFill>
          <a:blip r:embed="rId3">
            <a:alphaModFix/>
          </a:blip>
          <a:stretch>
            <a:fillRect/>
          </a:stretch>
        </p:blipFill>
        <p:spPr>
          <a:xfrm>
            <a:off x="3482625" y="1878254"/>
            <a:ext cx="5508974" cy="290378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nvSpPr>
        <p:spPr>
          <a:xfrm>
            <a:off x="590400" y="1304700"/>
            <a:ext cx="3000000" cy="287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In AWS glue job, 'occupancy_rate' column was created by means of a calculation between 2 other columns: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df = df.withColumn(</a:t>
            </a:r>
            <a:endParaRPr/>
          </a:p>
          <a:p>
            <a:pPr indent="0" lvl="0" marL="0" rtl="0" algn="l">
              <a:lnSpc>
                <a:spcPct val="115000"/>
              </a:lnSpc>
              <a:spcBef>
                <a:spcPts val="0"/>
              </a:spcBef>
              <a:spcAft>
                <a:spcPts val="0"/>
              </a:spcAft>
              <a:buNone/>
            </a:pPr>
            <a:r>
              <a:rPr lang="en"/>
              <a:t>    "occupancy_rate",</a:t>
            </a:r>
            <a:endParaRPr/>
          </a:p>
          <a:p>
            <a:pPr indent="0" lvl="0" marL="0" rtl="0" algn="l">
              <a:lnSpc>
                <a:spcPct val="115000"/>
              </a:lnSpc>
              <a:spcBef>
                <a:spcPts val="0"/>
              </a:spcBef>
              <a:spcAft>
                <a:spcPts val="0"/>
              </a:spcAft>
              <a:buNone/>
            </a:pPr>
            <a:r>
              <a:rPr lang="en"/>
              <a:t>    col("Average Number of Residents per Day") /</a:t>
            </a:r>
            <a:endParaRPr/>
          </a:p>
          <a:p>
            <a:pPr indent="0" lvl="0" marL="0" rtl="0" algn="l">
              <a:lnSpc>
                <a:spcPct val="115000"/>
              </a:lnSpc>
              <a:spcBef>
                <a:spcPts val="0"/>
              </a:spcBef>
              <a:spcAft>
                <a:spcPts val="0"/>
              </a:spcAft>
              <a:buNone/>
            </a:pPr>
            <a:r>
              <a:rPr lang="en"/>
              <a:t>    col("Number of Certified Beds")</a:t>
            </a:r>
            <a:endParaRPr/>
          </a:p>
          <a:p>
            <a:pPr indent="0" lvl="0" marL="0" rtl="0" algn="l">
              <a:lnSpc>
                <a:spcPct val="115000"/>
              </a:lnSpc>
              <a:spcBef>
                <a:spcPts val="0"/>
              </a:spcBef>
              <a:spcAft>
                <a:spcPts val="0"/>
              </a:spcAft>
              <a:buNone/>
            </a:pPr>
            <a:r>
              <a:rPr lang="en"/>
              <a:t>)</a:t>
            </a:r>
            <a:endParaRPr/>
          </a:p>
        </p:txBody>
      </p:sp>
      <p:sp>
        <p:nvSpPr>
          <p:cNvPr id="281" name="Google Shape;281;p50"/>
          <p:cNvSpPr txBox="1"/>
          <p:nvPr/>
        </p:nvSpPr>
        <p:spPr>
          <a:xfrm>
            <a:off x="5333625" y="1304700"/>
            <a:ext cx="2791800" cy="26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Total_Nurse_Hrs was also created in with an AWS Glue job through addition:</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df = df.withColumn(</a:t>
            </a:r>
            <a:endParaRPr/>
          </a:p>
          <a:p>
            <a:pPr indent="0" lvl="0" marL="0" rtl="0" algn="l">
              <a:lnSpc>
                <a:spcPct val="115000"/>
              </a:lnSpc>
              <a:spcBef>
                <a:spcPts val="0"/>
              </a:spcBef>
              <a:spcAft>
                <a:spcPts val="0"/>
              </a:spcAft>
              <a:buNone/>
            </a:pPr>
            <a:r>
              <a:rPr lang="en"/>
              <a:t>    "Total_Nurse_Hrs",</a:t>
            </a:r>
            <a:endParaRPr/>
          </a:p>
          <a:p>
            <a:pPr indent="0" lvl="0" marL="0" rtl="0" algn="l">
              <a:lnSpc>
                <a:spcPct val="115000"/>
              </a:lnSpc>
              <a:spcBef>
                <a:spcPts val="0"/>
              </a:spcBef>
              <a:spcAft>
                <a:spcPts val="0"/>
              </a:spcAft>
              <a:buNone/>
            </a:pPr>
            <a:r>
              <a:rPr lang="en"/>
              <a:t>    col("Hrs_RN") +</a:t>
            </a:r>
            <a:endParaRPr/>
          </a:p>
          <a:p>
            <a:pPr indent="0" lvl="0" marL="0" rtl="0" algn="l">
              <a:lnSpc>
                <a:spcPct val="115000"/>
              </a:lnSpc>
              <a:spcBef>
                <a:spcPts val="0"/>
              </a:spcBef>
              <a:spcAft>
                <a:spcPts val="0"/>
              </a:spcAft>
              <a:buNone/>
            </a:pPr>
            <a:r>
              <a:rPr lang="en"/>
              <a:t>    col("Hrs_LPN") +</a:t>
            </a:r>
            <a:endParaRPr/>
          </a:p>
          <a:p>
            <a:pPr indent="0" lvl="0" marL="0" rtl="0" algn="l">
              <a:lnSpc>
                <a:spcPct val="115000"/>
              </a:lnSpc>
              <a:spcBef>
                <a:spcPts val="0"/>
              </a:spcBef>
              <a:spcAft>
                <a:spcPts val="0"/>
              </a:spcAft>
              <a:buNone/>
            </a:pPr>
            <a:r>
              <a:rPr lang="en"/>
              <a:t>    col("Hrs_CNA")</a:t>
            </a:r>
            <a:endParaRPr/>
          </a:p>
          <a:p>
            <a:pPr indent="0" lvl="0" marL="0" rtl="0" algn="l">
              <a:lnSpc>
                <a:spcPct val="115000"/>
              </a:lnSpc>
              <a:spcBef>
                <a:spcPts val="0"/>
              </a:spcBef>
              <a:spcAft>
                <a:spcPts val="0"/>
              </a:spcAft>
              <a:buNone/>
            </a:pPr>
            <a:r>
              <a:rPr lang="en"/>
              <a:t>)</a:t>
            </a:r>
            <a:endParaRPr/>
          </a:p>
        </p:txBody>
      </p:sp>
      <p:sp>
        <p:nvSpPr>
          <p:cNvPr id="282" name="Google Shape;282;p50"/>
          <p:cNvSpPr txBox="1"/>
          <p:nvPr/>
        </p:nvSpPr>
        <p:spPr>
          <a:xfrm>
            <a:off x="1479850" y="370250"/>
            <a:ext cx="6095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Arriving to answer to Business Question 1 (part 1)</a:t>
            </a:r>
            <a:endParaRPr sz="21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1"/>
          <p:cNvSpPr txBox="1"/>
          <p:nvPr/>
        </p:nvSpPr>
        <p:spPr>
          <a:xfrm>
            <a:off x="1861250" y="1270875"/>
            <a:ext cx="5383800" cy="287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In Python, avg_total_nurse_hrs was calculated by finding the average of the Total_Nurse_hrs column:</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facility_staffing = (</a:t>
            </a:r>
            <a:endParaRPr/>
          </a:p>
          <a:p>
            <a:pPr indent="0" lvl="0" marL="0" rtl="0" algn="l">
              <a:lnSpc>
                <a:spcPct val="115000"/>
              </a:lnSpc>
              <a:spcBef>
                <a:spcPts val="0"/>
              </a:spcBef>
              <a:spcAft>
                <a:spcPts val="0"/>
              </a:spcAft>
              <a:buNone/>
            </a:pPr>
            <a:r>
              <a:rPr lang="en"/>
              <a:t>    pbj_df</a:t>
            </a:r>
            <a:endParaRPr/>
          </a:p>
          <a:p>
            <a:pPr indent="0" lvl="0" marL="0" rtl="0" algn="l">
              <a:lnSpc>
                <a:spcPct val="115000"/>
              </a:lnSpc>
              <a:spcBef>
                <a:spcPts val="0"/>
              </a:spcBef>
              <a:spcAft>
                <a:spcPts val="0"/>
              </a:spcAft>
              <a:buNone/>
            </a:pPr>
            <a:r>
              <a:rPr lang="en"/>
              <a:t>    .groupby(</a:t>
            </a:r>
            <a:endParaRPr/>
          </a:p>
          <a:p>
            <a:pPr indent="0" lvl="0" marL="0" rtl="0" algn="l">
              <a:lnSpc>
                <a:spcPct val="115000"/>
              </a:lnSpc>
              <a:spcBef>
                <a:spcPts val="0"/>
              </a:spcBef>
              <a:spcAft>
                <a:spcPts val="0"/>
              </a:spcAft>
              <a:buNone/>
            </a:pPr>
            <a:r>
              <a:rPr lang="en"/>
              <a:t>        ["cms_certification_number_ccn", "provider_name"]</a:t>
            </a:r>
            <a:endParaRPr/>
          </a:p>
          <a:p>
            <a:pPr indent="0" lvl="0" marL="0" rtl="0" algn="l">
              <a:lnSpc>
                <a:spcPct val="115000"/>
              </a:lnSpc>
              <a:spcBef>
                <a:spcPts val="0"/>
              </a:spcBef>
              <a:spcAft>
                <a:spcPts val="0"/>
              </a:spcAft>
              <a:buNone/>
            </a:pPr>
            <a:r>
              <a:rPr lang="en"/>
              <a:t>    )["Total_Nurse_Hrs"]</a:t>
            </a:r>
            <a:endParaRPr/>
          </a:p>
          <a:p>
            <a:pPr indent="0" lvl="0" marL="0" rtl="0" algn="l">
              <a:lnSpc>
                <a:spcPct val="115000"/>
              </a:lnSpc>
              <a:spcBef>
                <a:spcPts val="0"/>
              </a:spcBef>
              <a:spcAft>
                <a:spcPts val="0"/>
              </a:spcAft>
              <a:buNone/>
            </a:pPr>
            <a:r>
              <a:rPr lang="en"/>
              <a:t>    .mean()</a:t>
            </a:r>
            <a:endParaRPr/>
          </a:p>
          <a:p>
            <a:pPr indent="0" lvl="0" marL="0" rtl="0" algn="l">
              <a:lnSpc>
                <a:spcPct val="115000"/>
              </a:lnSpc>
              <a:spcBef>
                <a:spcPts val="0"/>
              </a:spcBef>
              <a:spcAft>
                <a:spcPts val="0"/>
              </a:spcAft>
              <a:buNone/>
            </a:pPr>
            <a:r>
              <a:rPr lang="en"/>
              <a:t>    .reset_index(name="avg_total_nurse_hrs")</a:t>
            </a:r>
            <a:endParaRPr/>
          </a:p>
          <a:p>
            <a:pPr indent="0" lvl="0" marL="0" rtl="0" algn="l">
              <a:lnSpc>
                <a:spcPct val="115000"/>
              </a:lnSpc>
              <a:spcBef>
                <a:spcPts val="0"/>
              </a:spcBef>
              <a:spcAft>
                <a:spcPts val="0"/>
              </a:spcAft>
              <a:buNone/>
            </a:pPr>
            <a:r>
              <a:rPr lang="en"/>
              <a:t>)</a:t>
            </a:r>
            <a:endParaRPr/>
          </a:p>
        </p:txBody>
      </p:sp>
      <p:sp>
        <p:nvSpPr>
          <p:cNvPr id="288" name="Google Shape;288;p51"/>
          <p:cNvSpPr txBox="1"/>
          <p:nvPr/>
        </p:nvSpPr>
        <p:spPr>
          <a:xfrm>
            <a:off x="1511025" y="459575"/>
            <a:ext cx="6184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Arriving to answer to Business Question 1 (part 2)</a:t>
            </a:r>
            <a:endParaRPr sz="21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2"/>
          <p:cNvSpPr txBox="1"/>
          <p:nvPr/>
        </p:nvSpPr>
        <p:spPr>
          <a:xfrm>
            <a:off x="3502375" y="141150"/>
            <a:ext cx="5433600" cy="504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t>Here is the P</a:t>
            </a:r>
            <a:r>
              <a:rPr lang="en" sz="1200"/>
              <a:t>ython code to merge datasets for provider &amp; staffing in order to obtain comparison between occupancy rate and staffing levels:</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facility_analysis = (</a:t>
            </a:r>
            <a:endParaRPr sz="1200"/>
          </a:p>
          <a:p>
            <a:pPr indent="0" lvl="0" marL="0" rtl="0" algn="l">
              <a:lnSpc>
                <a:spcPct val="115000"/>
              </a:lnSpc>
              <a:spcBef>
                <a:spcPts val="0"/>
              </a:spcBef>
              <a:spcAft>
                <a:spcPts val="0"/>
              </a:spcAft>
              <a:buNone/>
            </a:pPr>
            <a:r>
              <a:rPr lang="en" sz="1200"/>
              <a:t>    provider_df[</a:t>
            </a:r>
            <a:endParaRPr sz="1200"/>
          </a:p>
          <a:p>
            <a:pPr indent="0" lvl="0" marL="0" rtl="0" algn="l">
              <a:lnSpc>
                <a:spcPct val="115000"/>
              </a:lnSpc>
              <a:spcBef>
                <a:spcPts val="0"/>
              </a:spcBef>
              <a:spcAft>
                <a:spcPts val="0"/>
              </a:spcAft>
              <a:buNone/>
            </a:pPr>
            <a:r>
              <a:rPr lang="en" sz="1200"/>
              <a:t>        [</a:t>
            </a:r>
            <a:endParaRPr sz="1200"/>
          </a:p>
          <a:p>
            <a:pPr indent="0" lvl="0" marL="0" rtl="0" algn="l">
              <a:lnSpc>
                <a:spcPct val="115000"/>
              </a:lnSpc>
              <a:spcBef>
                <a:spcPts val="0"/>
              </a:spcBef>
              <a:spcAft>
                <a:spcPts val="0"/>
              </a:spcAft>
              <a:buNone/>
            </a:pPr>
            <a:r>
              <a:rPr lang="en" sz="1200"/>
              <a:t>            "cms_certification_number_ccn",</a:t>
            </a:r>
            <a:endParaRPr sz="1200"/>
          </a:p>
          <a:p>
            <a:pPr indent="0" lvl="0" marL="0" rtl="0" algn="l">
              <a:lnSpc>
                <a:spcPct val="115000"/>
              </a:lnSpc>
              <a:spcBef>
                <a:spcPts val="0"/>
              </a:spcBef>
              <a:spcAft>
                <a:spcPts val="0"/>
              </a:spcAft>
              <a:buNone/>
            </a:pPr>
            <a:r>
              <a:rPr lang="en" sz="1200"/>
              <a:t>            "provider_name",</a:t>
            </a:r>
            <a:endParaRPr sz="1200"/>
          </a:p>
          <a:p>
            <a:pPr indent="0" lvl="0" marL="0" rtl="0" algn="l">
              <a:lnSpc>
                <a:spcPct val="115000"/>
              </a:lnSpc>
              <a:spcBef>
                <a:spcPts val="0"/>
              </a:spcBef>
              <a:spcAft>
                <a:spcPts val="0"/>
              </a:spcAft>
              <a:buNone/>
            </a:pPr>
            <a:r>
              <a:rPr lang="en" sz="1200"/>
              <a:t>            "state",</a:t>
            </a:r>
            <a:endParaRPr sz="1200"/>
          </a:p>
          <a:p>
            <a:pPr indent="0" lvl="0" marL="0" rtl="0" algn="l">
              <a:lnSpc>
                <a:spcPct val="115000"/>
              </a:lnSpc>
              <a:spcBef>
                <a:spcPts val="0"/>
              </a:spcBef>
              <a:spcAft>
                <a:spcPts val="0"/>
              </a:spcAft>
              <a:buNone/>
            </a:pPr>
            <a:r>
              <a:rPr lang="en" sz="1200"/>
              <a:t>            "occupancy_rate"</a:t>
            </a:r>
            <a:endParaRPr sz="1200"/>
          </a:p>
          <a:p>
            <a:pPr indent="0" lvl="0" marL="0" rtl="0" algn="l">
              <a:lnSpc>
                <a:spcPct val="115000"/>
              </a:lnSpc>
              <a:spcBef>
                <a:spcPts val="0"/>
              </a:spcBef>
              <a:spcAft>
                <a:spcPts val="0"/>
              </a:spcAft>
              <a:buNone/>
            </a:pPr>
            <a:r>
              <a:rPr lang="en" sz="1200"/>
              <a:t>        ]</a:t>
            </a:r>
            <a:endParaRPr sz="1200"/>
          </a:p>
          <a:p>
            <a:pPr indent="0" lvl="0" marL="0" rtl="0" algn="l">
              <a:lnSpc>
                <a:spcPct val="115000"/>
              </a:lnSpc>
              <a:spcBef>
                <a:spcPts val="0"/>
              </a:spcBef>
              <a:spcAft>
                <a:spcPts val="0"/>
              </a:spcAft>
              <a:buNone/>
            </a:pPr>
            <a:r>
              <a:rPr lang="en" sz="1200"/>
              <a:t>    ]</a:t>
            </a:r>
            <a:endParaRPr sz="1200"/>
          </a:p>
          <a:p>
            <a:pPr indent="0" lvl="0" marL="0" rtl="0" algn="l">
              <a:lnSpc>
                <a:spcPct val="115000"/>
              </a:lnSpc>
              <a:spcBef>
                <a:spcPts val="0"/>
              </a:spcBef>
              <a:spcAft>
                <a:spcPts val="0"/>
              </a:spcAft>
              <a:buNone/>
            </a:pPr>
            <a:r>
              <a:rPr lang="en" sz="1200"/>
              <a:t>    .merge(</a:t>
            </a:r>
            <a:endParaRPr sz="1200"/>
          </a:p>
          <a:p>
            <a:pPr indent="0" lvl="0" marL="0" rtl="0" algn="l">
              <a:lnSpc>
                <a:spcPct val="115000"/>
              </a:lnSpc>
              <a:spcBef>
                <a:spcPts val="0"/>
              </a:spcBef>
              <a:spcAft>
                <a:spcPts val="0"/>
              </a:spcAft>
              <a:buNone/>
            </a:pPr>
            <a:r>
              <a:rPr lang="en" sz="1200"/>
              <a:t>        facility_staffing,</a:t>
            </a:r>
            <a:endParaRPr sz="1200"/>
          </a:p>
          <a:p>
            <a:pPr indent="0" lvl="0" marL="0" rtl="0" algn="l">
              <a:lnSpc>
                <a:spcPct val="115000"/>
              </a:lnSpc>
              <a:spcBef>
                <a:spcPts val="0"/>
              </a:spcBef>
              <a:spcAft>
                <a:spcPts val="0"/>
              </a:spcAft>
              <a:buNone/>
            </a:pPr>
            <a:r>
              <a:rPr lang="en" sz="1200"/>
              <a:t>        on=["cms_certification_number_ccn", "provider_name"],</a:t>
            </a:r>
            <a:endParaRPr sz="1200"/>
          </a:p>
          <a:p>
            <a:pPr indent="0" lvl="0" marL="0" rtl="0" algn="l">
              <a:lnSpc>
                <a:spcPct val="115000"/>
              </a:lnSpc>
              <a:spcBef>
                <a:spcPts val="0"/>
              </a:spcBef>
              <a:spcAft>
                <a:spcPts val="0"/>
              </a:spcAft>
              <a:buNone/>
            </a:pPr>
            <a:r>
              <a:rPr lang="en" sz="1200"/>
              <a:t>        how="inner"</a:t>
            </a:r>
            <a:endParaRPr sz="1200"/>
          </a:p>
          <a:p>
            <a:pPr indent="0" lvl="0" marL="0" rtl="0" algn="l">
              <a:lnSpc>
                <a:spcPct val="115000"/>
              </a:lnSpc>
              <a:spcBef>
                <a:spcPts val="0"/>
              </a:spcBef>
              <a:spcAft>
                <a:spcPts val="0"/>
              </a:spcAft>
              <a:buNone/>
            </a:pPr>
            <a:r>
              <a:rPr lang="en" sz="1200"/>
              <a:t>    )</a:t>
            </a:r>
            <a:endParaRPr sz="1200"/>
          </a:p>
          <a:p>
            <a:pPr indent="0" lvl="0" marL="0" rtl="0" algn="l">
              <a:lnSpc>
                <a:spcPct val="115000"/>
              </a:lnSpc>
              <a:spcBef>
                <a:spcPts val="0"/>
              </a:spcBef>
              <a:spcAft>
                <a:spcPts val="0"/>
              </a:spcAft>
              <a:buNone/>
            </a:pPr>
            <a:r>
              <a:rPr lang="en" sz="1200"/>
              <a:t>)</a:t>
            </a:r>
            <a:endParaRPr sz="1200"/>
          </a:p>
          <a:p>
            <a:pPr indent="0" lvl="0" marL="0" rtl="0" algn="l">
              <a:lnSpc>
                <a:spcPct val="115000"/>
              </a:lnSpc>
              <a:spcBef>
                <a:spcPts val="0"/>
              </a:spcBef>
              <a:spcAft>
                <a:spcPts val="0"/>
              </a:spcAft>
              <a:buNone/>
            </a:pPr>
            <a:r>
              <a:rPr lang="en" sz="1200"/>
              <a:t>facility_analysis = facility_analysis.rename(</a:t>
            </a:r>
            <a:endParaRPr sz="1200"/>
          </a:p>
          <a:p>
            <a:pPr indent="0" lvl="0" marL="0" rtl="0" algn="l">
              <a:lnSpc>
                <a:spcPct val="115000"/>
              </a:lnSpc>
              <a:spcBef>
                <a:spcPts val="0"/>
              </a:spcBef>
              <a:spcAft>
                <a:spcPts val="0"/>
              </a:spcAft>
              <a:buNone/>
            </a:pPr>
            <a:r>
              <a:rPr lang="en" sz="1200"/>
              <a:t>    columns={</a:t>
            </a:r>
            <a:endParaRPr sz="1200"/>
          </a:p>
          <a:p>
            <a:pPr indent="0" lvl="0" marL="0" rtl="0" algn="l">
              <a:lnSpc>
                <a:spcPct val="115000"/>
              </a:lnSpc>
              <a:spcBef>
                <a:spcPts val="0"/>
              </a:spcBef>
              <a:spcAft>
                <a:spcPts val="0"/>
              </a:spcAft>
              <a:buNone/>
            </a:pPr>
            <a:r>
              <a:rPr lang="en" sz="1200"/>
              <a:t>        "Total_Nurse_Hrs": "avg_total_nurse_hours"</a:t>
            </a:r>
            <a:endParaRPr sz="1200"/>
          </a:p>
          <a:p>
            <a:pPr indent="0" lvl="0" marL="0" rtl="0" algn="l">
              <a:lnSpc>
                <a:spcPct val="115000"/>
              </a:lnSpc>
              <a:spcBef>
                <a:spcPts val="0"/>
              </a:spcBef>
              <a:spcAft>
                <a:spcPts val="0"/>
              </a:spcAft>
              <a:buNone/>
            </a:pPr>
            <a:r>
              <a:rPr lang="en" sz="1200"/>
              <a:t>    }</a:t>
            </a:r>
            <a:endParaRPr sz="1200"/>
          </a:p>
          <a:p>
            <a:pPr indent="0" lvl="0" marL="0" rtl="0" algn="l">
              <a:lnSpc>
                <a:spcPct val="115000"/>
              </a:lnSpc>
              <a:spcBef>
                <a:spcPts val="0"/>
              </a:spcBef>
              <a:spcAft>
                <a:spcPts val="0"/>
              </a:spcAft>
              <a:buNone/>
            </a:pPr>
            <a:r>
              <a:rPr lang="en" sz="1200"/>
              <a:t>)</a:t>
            </a:r>
            <a:endParaRPr sz="1200"/>
          </a:p>
        </p:txBody>
      </p:sp>
      <p:sp>
        <p:nvSpPr>
          <p:cNvPr id="294" name="Google Shape;294;p52"/>
          <p:cNvSpPr txBox="1"/>
          <p:nvPr/>
        </p:nvSpPr>
        <p:spPr>
          <a:xfrm>
            <a:off x="260175" y="1200825"/>
            <a:ext cx="30000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Arriving to answer to Business Question 1 (part 3)</a:t>
            </a:r>
            <a:endParaRPr sz="21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3"/>
          <p:cNvSpPr txBox="1"/>
          <p:nvPr/>
        </p:nvSpPr>
        <p:spPr>
          <a:xfrm>
            <a:off x="1000675" y="730500"/>
            <a:ext cx="7725300" cy="355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200"/>
              <a:t>Business Question 2</a:t>
            </a:r>
            <a:endParaRPr sz="2200"/>
          </a:p>
          <a:p>
            <a:pPr indent="0" lvl="0" marL="0" rtl="0" algn="ctr">
              <a:lnSpc>
                <a:spcPct val="115000"/>
              </a:lnSpc>
              <a:spcBef>
                <a:spcPts val="0"/>
              </a:spcBef>
              <a:spcAft>
                <a:spcPts val="0"/>
              </a:spcAft>
              <a:buNone/>
            </a:pPr>
            <a:r>
              <a:t/>
            </a:r>
            <a:endParaRPr sz="2200"/>
          </a:p>
          <a:p>
            <a:pPr indent="0" lvl="0" marL="0" rtl="0" algn="ctr">
              <a:lnSpc>
                <a:spcPct val="115000"/>
              </a:lnSpc>
              <a:spcBef>
                <a:spcPts val="0"/>
              </a:spcBef>
              <a:spcAft>
                <a:spcPts val="0"/>
              </a:spcAft>
              <a:buNone/>
            </a:pPr>
            <a:r>
              <a:rPr lang="en" sz="2200"/>
              <a:t>Which hospitals have the highest overtime hours for nurses?</a:t>
            </a:r>
            <a:endParaRPr sz="22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Answer:</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 PBJ dataset has info on (presumably) regular hours for various types of nurses.  For this dataset, the RN_Hrs column has info on nurse hours; many rows in this column show more than 40 hours worked for nurses.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There's no clarity as to whether anything above 40 hours count as valid overtime hours for this particular field.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4"/>
          <p:cNvSpPr txBox="1"/>
          <p:nvPr/>
        </p:nvSpPr>
        <p:spPr>
          <a:xfrm>
            <a:off x="854400" y="960675"/>
            <a:ext cx="7435200" cy="3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400"/>
              <a:t>Business Question 3:</a:t>
            </a:r>
            <a:endParaRPr sz="2400"/>
          </a:p>
          <a:p>
            <a:pPr indent="0" lvl="0" marL="0" rtl="0" algn="ctr">
              <a:lnSpc>
                <a:spcPct val="115000"/>
              </a:lnSpc>
              <a:spcBef>
                <a:spcPts val="0"/>
              </a:spcBef>
              <a:spcAft>
                <a:spcPts val="0"/>
              </a:spcAft>
              <a:buNone/>
            </a:pPr>
            <a:r>
              <a:t/>
            </a:r>
            <a:endParaRPr sz="2400"/>
          </a:p>
          <a:p>
            <a:pPr indent="0" lvl="0" marL="0" rtl="0" algn="ctr">
              <a:lnSpc>
                <a:spcPct val="115000"/>
              </a:lnSpc>
              <a:spcBef>
                <a:spcPts val="0"/>
              </a:spcBef>
              <a:spcAft>
                <a:spcPts val="0"/>
              </a:spcAft>
              <a:buNone/>
            </a:pPr>
            <a:r>
              <a:rPr lang="en" sz="2400"/>
              <a:t>What are the average staffing levels by state and hospital type?</a:t>
            </a:r>
            <a:endParaRPr sz="24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Answer:</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There's a wide amount of variation of staffing levels among state and types of hospital.  On the staffing page, selections show a wide range of nurse hours depending on which state and hospital type is chosen.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5"/>
          <p:cNvSpPr txBox="1"/>
          <p:nvPr/>
        </p:nvSpPr>
        <p:spPr>
          <a:xfrm>
            <a:off x="3582200" y="265200"/>
            <a:ext cx="4938600" cy="486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Expanding section for Provider details retrieves info from dataframe named "filtered_facility_analysis"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with st.expander("Provider Details", expanded=True):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if not filtered_facility_analysis.empty:</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provider =  filtered_facility_analysis.iloc[0]</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        details = {</a:t>
            </a:r>
            <a:endParaRPr/>
          </a:p>
          <a:p>
            <a:pPr indent="457200" lvl="0" marL="457200" rtl="0" algn="l">
              <a:lnSpc>
                <a:spcPct val="115000"/>
              </a:lnSpc>
              <a:spcBef>
                <a:spcPts val="0"/>
              </a:spcBef>
              <a:spcAft>
                <a:spcPts val="0"/>
              </a:spcAft>
              <a:buNone/>
            </a:pPr>
            <a:r>
              <a:t/>
            </a:r>
            <a:endParaRPr/>
          </a:p>
          <a:p>
            <a:pPr indent="457200" lvl="0" marL="457200" rtl="0" algn="l">
              <a:lnSpc>
                <a:spcPct val="115000"/>
              </a:lnSpc>
              <a:spcBef>
                <a:spcPts val="0"/>
              </a:spcBef>
              <a:spcAft>
                <a:spcPts val="0"/>
              </a:spcAft>
              <a:buNone/>
            </a:pPr>
            <a:r>
              <a:rPr lang="en">
                <a:solidFill>
                  <a:srgbClr val="0000FF"/>
                </a:solidFill>
              </a:rPr>
              <a:t>Particulars for d</a:t>
            </a:r>
            <a:r>
              <a:rPr lang="en">
                <a:solidFill>
                  <a:srgbClr val="0000FF"/>
                </a:solidFill>
              </a:rPr>
              <a:t>etails table </a:t>
            </a:r>
            <a:endParaRPr>
              <a:solidFill>
                <a:srgbClr val="0000FF"/>
              </a:solidFill>
            </a:endParaRPr>
          </a:p>
          <a:p>
            <a:pPr indent="457200" lvl="0" marL="457200" rtl="0" algn="l">
              <a:lnSpc>
                <a:spcPct val="115000"/>
              </a:lnSpc>
              <a:spcBef>
                <a:spcPts val="0"/>
              </a:spcBef>
              <a:spcAft>
                <a:spcPts val="0"/>
              </a:spcAft>
              <a:buNone/>
            </a:pPr>
            <a:r>
              <a:rPr lang="en">
                <a:solidFill>
                  <a:srgbClr val="0000FF"/>
                </a:solidFill>
              </a:rPr>
              <a:t>provided on next slide   </a:t>
            </a:r>
            <a:r>
              <a:rPr lang="en"/>
              <a:t>         </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st.table(details)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    else:</a:t>
            </a:r>
            <a:endParaRPr/>
          </a:p>
          <a:p>
            <a:pPr indent="0" lvl="0" marL="0" rtl="0" algn="l">
              <a:lnSpc>
                <a:spcPct val="115000"/>
              </a:lnSpc>
              <a:spcBef>
                <a:spcPts val="0"/>
              </a:spcBef>
              <a:spcAft>
                <a:spcPts val="0"/>
              </a:spcAft>
              <a:buNone/>
            </a:pPr>
            <a:r>
              <a:rPr lang="en"/>
              <a:t>        st.info("No provider is available for the selected filters.")</a:t>
            </a:r>
            <a:endParaRPr/>
          </a:p>
        </p:txBody>
      </p:sp>
      <p:sp>
        <p:nvSpPr>
          <p:cNvPr id="310" name="Google Shape;310;p55"/>
          <p:cNvSpPr txBox="1"/>
          <p:nvPr/>
        </p:nvSpPr>
        <p:spPr>
          <a:xfrm>
            <a:off x="238150" y="393425"/>
            <a:ext cx="3000000" cy="140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chemeClr val="dk1"/>
                </a:solidFill>
              </a:rPr>
              <a:t>Arriving at answer to Business Question </a:t>
            </a:r>
            <a:endParaRPr sz="2400">
              <a:solidFill>
                <a:schemeClr val="dk1"/>
              </a:solidFill>
            </a:endParaRPr>
          </a:p>
          <a:p>
            <a:pPr indent="0" lvl="0" marL="0" rtl="0" algn="l">
              <a:lnSpc>
                <a:spcPct val="115000"/>
              </a:lnSpc>
              <a:spcBef>
                <a:spcPts val="0"/>
              </a:spcBef>
              <a:spcAft>
                <a:spcPts val="0"/>
              </a:spcAft>
              <a:buNone/>
            </a:pPr>
            <a:r>
              <a:rPr lang="en" sz="2400">
                <a:solidFill>
                  <a:schemeClr val="dk1"/>
                </a:solidFill>
              </a:rPr>
              <a:t># 3 (part 1):</a:t>
            </a:r>
            <a:endParaRPr sz="2400"/>
          </a:p>
        </p:txBody>
      </p:sp>
      <p:sp>
        <p:nvSpPr>
          <p:cNvPr id="311" name="Google Shape;311;p55"/>
          <p:cNvSpPr txBox="1"/>
          <p:nvPr/>
        </p:nvSpPr>
        <p:spPr>
          <a:xfrm>
            <a:off x="320950" y="25717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Expanding section for Provider details retrieves info from dataframe named "filtered_facility_analysis"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6"/>
          <p:cNvSpPr txBox="1"/>
          <p:nvPr/>
        </p:nvSpPr>
        <p:spPr>
          <a:xfrm>
            <a:off x="1046675" y="310600"/>
            <a:ext cx="7525800" cy="4790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Arriving at answer to Business Question # 3 (part 2):</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en" sz="2000"/>
              <a:t>Details table consists of variables referred to in the earlier part of the code:</a:t>
            </a:r>
            <a:endParaRPr sz="20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details = {</a:t>
            </a:r>
            <a:endParaRPr/>
          </a:p>
          <a:p>
            <a:pPr indent="0" lvl="0" marL="0" rtl="0" algn="l">
              <a:lnSpc>
                <a:spcPct val="115000"/>
              </a:lnSpc>
              <a:spcBef>
                <a:spcPts val="0"/>
              </a:spcBef>
              <a:spcAft>
                <a:spcPts val="0"/>
              </a:spcAft>
              <a:buNone/>
            </a:pPr>
            <a:r>
              <a:rPr lang="en"/>
              <a:t>            "Provider Name": provider["provider_name"],</a:t>
            </a:r>
            <a:endParaRPr/>
          </a:p>
          <a:p>
            <a:pPr indent="0" lvl="0" marL="0" rtl="0" algn="l">
              <a:lnSpc>
                <a:spcPct val="115000"/>
              </a:lnSpc>
              <a:spcBef>
                <a:spcPts val="0"/>
              </a:spcBef>
              <a:spcAft>
                <a:spcPts val="0"/>
              </a:spcAft>
              <a:buNone/>
            </a:pPr>
            <a:r>
              <a:rPr lang="en"/>
              <a:t>            "State": state_names.get(</a:t>
            </a:r>
            <a:endParaRPr/>
          </a:p>
          <a:p>
            <a:pPr indent="0" lvl="0" marL="0" rtl="0" algn="l">
              <a:lnSpc>
                <a:spcPct val="115000"/>
              </a:lnSpc>
              <a:spcBef>
                <a:spcPts val="0"/>
              </a:spcBef>
              <a:spcAft>
                <a:spcPts val="0"/>
              </a:spcAft>
              <a:buNone/>
            </a:pPr>
            <a:r>
              <a:rPr lang="en"/>
              <a:t>                provider["state"],</a:t>
            </a:r>
            <a:endParaRPr/>
          </a:p>
          <a:p>
            <a:pPr indent="0" lvl="0" marL="0" rtl="0" algn="l">
              <a:lnSpc>
                <a:spcPct val="115000"/>
              </a:lnSpc>
              <a:spcBef>
                <a:spcPts val="0"/>
              </a:spcBef>
              <a:spcAft>
                <a:spcPts val="0"/>
              </a:spcAft>
              <a:buNone/>
            </a:pPr>
            <a:r>
              <a:rPr lang="en"/>
              <a:t>                provider["state"]</a:t>
            </a:r>
            <a:endParaRPr/>
          </a:p>
          <a:p>
            <a:pPr indent="0" lvl="0" marL="0" rtl="0" algn="l">
              <a:lnSpc>
                <a:spcPct val="115000"/>
              </a:lnSpc>
              <a:spcBef>
                <a:spcPts val="0"/>
              </a:spcBef>
              <a:spcAft>
                <a:spcPts val="0"/>
              </a:spcAft>
              <a:buNone/>
            </a:pPr>
            <a:r>
              <a:rPr lang="en"/>
              <a:t>            ),</a:t>
            </a:r>
            <a:endParaRPr/>
          </a:p>
          <a:p>
            <a:pPr indent="0" lvl="0" marL="0" rtl="0" algn="l">
              <a:lnSpc>
                <a:spcPct val="115000"/>
              </a:lnSpc>
              <a:spcBef>
                <a:spcPts val="0"/>
              </a:spcBef>
              <a:spcAft>
                <a:spcPts val="0"/>
              </a:spcAft>
              <a:buNone/>
            </a:pPr>
            <a:r>
              <a:rPr lang="en"/>
              <a:t>            "Ownership": provider["ownership_type"],</a:t>
            </a:r>
            <a:endParaRPr/>
          </a:p>
          <a:p>
            <a:pPr indent="0" lvl="0" marL="0" rtl="0" algn="l">
              <a:lnSpc>
                <a:spcPct val="115000"/>
              </a:lnSpc>
              <a:spcBef>
                <a:spcPts val="0"/>
              </a:spcBef>
              <a:spcAft>
                <a:spcPts val="0"/>
              </a:spcAft>
              <a:buNone/>
            </a:pPr>
            <a:r>
              <a:rPr lang="en"/>
              <a:t>            "Average Nurse Hours": f"{avg_nurse_hours:,.1f}",</a:t>
            </a:r>
            <a:endParaRPr/>
          </a:p>
          <a:p>
            <a:pPr indent="0" lvl="0" marL="0" rtl="0" algn="l">
              <a:lnSpc>
                <a:spcPct val="115000"/>
              </a:lnSpc>
              <a:spcBef>
                <a:spcPts val="0"/>
              </a:spcBef>
              <a:spcAft>
                <a:spcPts val="0"/>
              </a:spcAft>
              <a:buNone/>
            </a:pPr>
            <a:r>
              <a:rPr lang="en"/>
              <a:t>            "Average Nurse Hours to each Resident":</a:t>
            </a:r>
            <a:endParaRPr/>
          </a:p>
          <a:p>
            <a:pPr indent="0" lvl="0" marL="0" rtl="0" algn="l">
              <a:lnSpc>
                <a:spcPct val="115000"/>
              </a:lnSpc>
              <a:spcBef>
                <a:spcPts val="0"/>
              </a:spcBef>
              <a:spcAft>
                <a:spcPts val="0"/>
              </a:spcAft>
              <a:buNone/>
            </a:pPr>
            <a:r>
              <a:rPr lang="en"/>
              <a:t>                f"{avg_nurse_hours_per_resident:,.2f}",</a:t>
            </a:r>
            <a:endParaRPr/>
          </a:p>
          <a:p>
            <a:pPr indent="0" lvl="0" marL="0" rtl="0" algn="l">
              <a:lnSpc>
                <a:spcPct val="115000"/>
              </a:lnSpc>
              <a:spcBef>
                <a:spcPts val="0"/>
              </a:spcBef>
              <a:spcAft>
                <a:spcPts val="0"/>
              </a:spcAft>
              <a:buNone/>
            </a:pPr>
            <a:r>
              <a:rPr lang="en"/>
              <a:t>            "Average Occupancy": f"{avg_occupancy:.1%}"</a:t>
            </a:r>
            <a:endParaRPr/>
          </a:p>
          <a:p>
            <a:pPr indent="0" lvl="0" marL="0" rtl="0" algn="l">
              <a:lnSpc>
                <a:spcPct val="115000"/>
              </a:lnSpc>
              <a:spcBef>
                <a:spcPts val="0"/>
              </a:spcBef>
              <a:spcAft>
                <a:spcPts val="0"/>
              </a:spcAft>
              <a:buNone/>
            </a:pPr>
            <a:r>
              <a:rPr lang="en"/>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7"/>
          <p:cNvSpPr txBox="1"/>
          <p:nvPr/>
        </p:nvSpPr>
        <p:spPr>
          <a:xfrm>
            <a:off x="705000" y="760800"/>
            <a:ext cx="7734000" cy="4365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100"/>
              <a:t>Arriving at answer to Business Question # 3 (part 3):</a:t>
            </a:r>
            <a:endParaRPr sz="2100"/>
          </a:p>
          <a:p>
            <a:pPr indent="0" lvl="0" marL="0" rtl="0" algn="ctr">
              <a:lnSpc>
                <a:spcPct val="115000"/>
              </a:lnSpc>
              <a:spcBef>
                <a:spcPts val="0"/>
              </a:spcBef>
              <a:spcAft>
                <a:spcPts val="0"/>
              </a:spcAft>
              <a:buNone/>
            </a:pPr>
            <a:r>
              <a:t/>
            </a:r>
            <a:endParaRPr sz="2100"/>
          </a:p>
          <a:p>
            <a:pPr indent="0" lvl="0" marL="0" rtl="0" algn="ctr">
              <a:lnSpc>
                <a:spcPct val="115000"/>
              </a:lnSpc>
              <a:spcBef>
                <a:spcPts val="0"/>
              </a:spcBef>
              <a:spcAft>
                <a:spcPts val="0"/>
              </a:spcAft>
              <a:buNone/>
            </a:pPr>
            <a:r>
              <a:rPr lang="en" sz="2100"/>
              <a:t>Variables for metrics were calculated in the earlier part of the code; 'mean' refers to an average.</a:t>
            </a:r>
            <a:endParaRPr sz="21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avg_nurse_hours = (</a:t>
            </a:r>
            <a:endParaRPr/>
          </a:p>
          <a:p>
            <a:pPr indent="0" lvl="0" marL="0" rtl="0" algn="l">
              <a:lnSpc>
                <a:spcPct val="115000"/>
              </a:lnSpc>
              <a:spcBef>
                <a:spcPts val="0"/>
              </a:spcBef>
              <a:spcAft>
                <a:spcPts val="0"/>
              </a:spcAft>
              <a:buNone/>
            </a:pPr>
            <a:r>
              <a:rPr lang="en"/>
              <a:t>    filtered_facility_analysis["avg_total_nurse_hrs"].mean()</a:t>
            </a:r>
            <a:endParaRPr/>
          </a:p>
          <a:p>
            <a:pPr indent="0" lvl="0" marL="0" rtl="0" algn="l">
              <a:lnSpc>
                <a:spcPct val="115000"/>
              </a:lnSpc>
              <a:spcBef>
                <a:spcPts val="0"/>
              </a:spcBef>
              <a:spcAft>
                <a:spcPts val="0"/>
              </a:spcAft>
              <a:buNone/>
            </a:pPr>
            <a:r>
              <a:rPr lang="en"/>
              <a:t>)</a:t>
            </a:r>
            <a:endParaRPr/>
          </a:p>
          <a:p>
            <a:pPr indent="0" lvl="0" marL="0" rtl="0" algn="l">
              <a:lnSpc>
                <a:spcPct val="115000"/>
              </a:lnSpc>
              <a:spcBef>
                <a:spcPts val="0"/>
              </a:spcBef>
              <a:spcAft>
                <a:spcPts val="0"/>
              </a:spcAft>
              <a:buNone/>
            </a:pPr>
            <a:r>
              <a:rPr lang="en"/>
              <a:t>avg_nurse_hours_per_resident = (</a:t>
            </a:r>
            <a:endParaRPr/>
          </a:p>
          <a:p>
            <a:pPr indent="0" lvl="0" marL="0" rtl="0" algn="l">
              <a:lnSpc>
                <a:spcPct val="115000"/>
              </a:lnSpc>
              <a:spcBef>
                <a:spcPts val="0"/>
              </a:spcBef>
              <a:spcAft>
                <a:spcPts val="0"/>
              </a:spcAft>
              <a:buNone/>
            </a:pPr>
            <a:r>
              <a:rPr lang="en"/>
              <a:t>    filtered_facility_analysis["nurse_hours_per_resident"].mean()</a:t>
            </a:r>
            <a:endParaRPr/>
          </a:p>
          <a:p>
            <a:pPr indent="0" lvl="0" marL="0" rtl="0" algn="l">
              <a:lnSpc>
                <a:spcPct val="115000"/>
              </a:lnSpc>
              <a:spcBef>
                <a:spcPts val="0"/>
              </a:spcBef>
              <a:spcAft>
                <a:spcPts val="0"/>
              </a:spcAft>
              <a:buNone/>
            </a:pPr>
            <a:r>
              <a:rPr lang="en"/>
              <a: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avg_occupancy = (</a:t>
            </a:r>
            <a:endParaRPr/>
          </a:p>
          <a:p>
            <a:pPr indent="0" lvl="0" marL="0" rtl="0" algn="l">
              <a:lnSpc>
                <a:spcPct val="115000"/>
              </a:lnSpc>
              <a:spcBef>
                <a:spcPts val="0"/>
              </a:spcBef>
              <a:spcAft>
                <a:spcPts val="0"/>
              </a:spcAft>
              <a:buNone/>
            </a:pPr>
            <a:r>
              <a:rPr lang="en"/>
              <a:t>    filtered_facility_analysis["occupancy_rate"].mean()</a:t>
            </a:r>
            <a:endParaRPr/>
          </a:p>
          <a:p>
            <a:pPr indent="0" lvl="0" marL="0" rtl="0" algn="l">
              <a:lnSpc>
                <a:spcPct val="115000"/>
              </a:lnSpc>
              <a:spcBef>
                <a:spcPts val="0"/>
              </a:spcBef>
              <a:spcAft>
                <a:spcPts val="0"/>
              </a:spcAft>
              <a:buNone/>
            </a:pPr>
            <a:r>
              <a:rPr lang="en"/>
              <a: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8"/>
          <p:cNvSpPr txBox="1"/>
          <p:nvPr/>
        </p:nvSpPr>
        <p:spPr>
          <a:xfrm>
            <a:off x="445175" y="714375"/>
            <a:ext cx="8396400" cy="355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200"/>
              <a:t>Business Question # 4:</a:t>
            </a:r>
            <a:endParaRPr sz="2200"/>
          </a:p>
          <a:p>
            <a:pPr indent="0" lvl="0" marL="0" rtl="0" algn="ctr">
              <a:lnSpc>
                <a:spcPct val="115000"/>
              </a:lnSpc>
              <a:spcBef>
                <a:spcPts val="0"/>
              </a:spcBef>
              <a:spcAft>
                <a:spcPts val="0"/>
              </a:spcAft>
              <a:buNone/>
            </a:pPr>
            <a:r>
              <a:t/>
            </a:r>
            <a:endParaRPr sz="2200"/>
          </a:p>
          <a:p>
            <a:pPr indent="0" lvl="0" marL="0" rtl="0" algn="ctr">
              <a:lnSpc>
                <a:spcPct val="115000"/>
              </a:lnSpc>
              <a:spcBef>
                <a:spcPts val="0"/>
              </a:spcBef>
              <a:spcAft>
                <a:spcPts val="0"/>
              </a:spcAft>
              <a:buNone/>
            </a:pPr>
            <a:r>
              <a:rPr lang="en" sz="2200"/>
              <a:t>What trends can you identify in patient length of stay over time?</a:t>
            </a:r>
            <a:endParaRPr sz="22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Answer:</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For the 'resident_type' field in the Quality dataset, the two available categories are long stay and short stay.  Both short and long are general terms for a length of time, yet they don't address the question of how long the patient will stay.</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What's more, the provided info doesn't tell how patient length of stay changes over a longer period of time;.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9"/>
          <p:cNvSpPr txBox="1"/>
          <p:nvPr/>
        </p:nvSpPr>
        <p:spPr>
          <a:xfrm>
            <a:off x="710500" y="260150"/>
            <a:ext cx="7595100" cy="4046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400"/>
              <a:t>Deliverables (Part 1)</a:t>
            </a:r>
            <a:endParaRPr sz="2400"/>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sz="1200" u="sng"/>
              <a:t>Google API script for uploading csv files from google drive to S3:</a:t>
            </a:r>
            <a:endParaRPr sz="1200" u="sng"/>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https://drive.google.com/file/d/1O2Q6PRTMJ3N4yA2JL2_hvH9audgnMBA1/view?usp=share_link</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u="sng"/>
              <a:t>Pipeline documentation (HC_Project_pipeline)</a:t>
            </a:r>
            <a:r>
              <a:rPr lang="en" sz="1200"/>
              <a:t>  </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solidFill>
                  <a:schemeClr val="dk1"/>
                </a:solidFill>
              </a:rPr>
              <a:t>https://docs.google.com/document/d/1Z_0f-kfrJN5iwzThNAHLk0U1Ev3-DZ9JXOOheVWzwR0/edit?usp=sharing</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u="sng"/>
              <a:t>Code files (HC_Project_Code_files)</a:t>
            </a:r>
            <a:r>
              <a:rPr lang="en" sz="1200"/>
              <a:t>  contains glue script files for transformation and streamlit code for dashboard creation.</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https://docs.google.com/document/d/1goKlSpJA2j1E2Z-RZKvVOsGw_cMz13AE2eJ00LTWSbg/edit?usp=sharing</a:t>
            </a:r>
            <a:endParaRPr sz="1200"/>
          </a:p>
          <a:p>
            <a:pPr indent="0" lvl="0" marL="0" rtl="0" algn="l">
              <a:lnSpc>
                <a:spcPct val="115000"/>
              </a:lnSpc>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60"/>
          <p:cNvSpPr txBox="1"/>
          <p:nvPr/>
        </p:nvSpPr>
        <p:spPr>
          <a:xfrm>
            <a:off x="2571175" y="467500"/>
            <a:ext cx="30000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400">
                <a:solidFill>
                  <a:schemeClr val="dk1"/>
                </a:solidFill>
              </a:rPr>
              <a:t>Deliverables (Part 2)</a:t>
            </a:r>
            <a:endParaRPr/>
          </a:p>
        </p:txBody>
      </p:sp>
      <p:sp>
        <p:nvSpPr>
          <p:cNvPr id="337" name="Google Shape;337;p60"/>
          <p:cNvSpPr txBox="1"/>
          <p:nvPr/>
        </p:nvSpPr>
        <p:spPr>
          <a:xfrm>
            <a:off x="489150" y="1969200"/>
            <a:ext cx="81657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D</a:t>
            </a:r>
            <a:r>
              <a:rPr lang="en"/>
              <a:t>ata dictionary: "HC_Project_Data_Dict"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https://docs.google.com/document/d/1nxLoo1fGAGNq-pUkEqarN6eoAeWetieNRejEF14ovuM/edit?usp=sharing</a:t>
            </a:r>
            <a:endParaRPr/>
          </a:p>
          <a:p>
            <a:pPr indent="0" lvl="0" marL="0" rtl="0" algn="l">
              <a:lnSpc>
                <a:spcPct val="115000"/>
              </a:lnSpc>
              <a:spcBef>
                <a:spcPts val="0"/>
              </a:spcBef>
              <a:spcAft>
                <a:spcPts val="0"/>
              </a:spcAft>
              <a:buNone/>
            </a:pPr>
            <a:r>
              <a:t/>
            </a:r>
            <a:endParaRPr/>
          </a:p>
        </p:txBody>
      </p:sp>
      <p:sp>
        <p:nvSpPr>
          <p:cNvPr id="338" name="Google Shape;338;p60"/>
          <p:cNvSpPr txBox="1"/>
          <p:nvPr/>
        </p:nvSpPr>
        <p:spPr>
          <a:xfrm>
            <a:off x="470300" y="1100750"/>
            <a:ext cx="5033400" cy="789300"/>
          </a:xfrm>
          <a:prstGeom prst="rect">
            <a:avLst/>
          </a:prstGeom>
          <a:noFill/>
          <a:ln>
            <a:noFill/>
          </a:ln>
        </p:spPr>
        <p:txBody>
          <a:bodyPr anchorCtr="0" anchor="t" bIns="91425" lIns="91425" spcFirstLastPara="1" rIns="91425" wrap="square" tIns="91425">
            <a:spAutoFit/>
          </a:bodyPr>
          <a:lstStyle/>
          <a:p>
            <a:pPr indent="0" lvl="0" marL="0" rtl="0" algn="l">
              <a:lnSpc>
                <a:spcPct val="109090"/>
              </a:lnSpc>
              <a:spcBef>
                <a:spcPts val="1200"/>
              </a:spcBef>
              <a:spcAft>
                <a:spcPts val="0"/>
              </a:spcAft>
              <a:buNone/>
            </a:pPr>
            <a:r>
              <a:rPr lang="en"/>
              <a:t>Health Care Dashboard URL:</a:t>
            </a:r>
            <a:endParaRPr/>
          </a:p>
          <a:p>
            <a:pPr indent="0" lvl="0" marL="0" rtl="0" algn="l">
              <a:lnSpc>
                <a:spcPct val="109090"/>
              </a:lnSpc>
              <a:spcBef>
                <a:spcPts val="1200"/>
              </a:spcBef>
              <a:spcAft>
                <a:spcPts val="0"/>
              </a:spcAft>
              <a:buNone/>
            </a:pPr>
            <a:r>
              <a:rPr lang="en"/>
              <a:t>https://healthcareproject-mz-deacademy.streamlit.app/</a:t>
            </a:r>
            <a:endParaRPr/>
          </a:p>
        </p:txBody>
      </p:sp>
      <p:sp>
        <p:nvSpPr>
          <p:cNvPr id="339" name="Google Shape;339;p60"/>
          <p:cNvSpPr txBox="1"/>
          <p:nvPr/>
        </p:nvSpPr>
        <p:spPr>
          <a:xfrm>
            <a:off x="489150" y="3541475"/>
            <a:ext cx="68547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HealthCare Project on Github</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https://github.com/getaround2itnow/healthcare_project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